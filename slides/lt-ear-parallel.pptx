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つかみ:「イヤホンはコンピュータである」。BES2300YP は Cortex-M4F が 2 個載ったれっきとした MCU。音を鳴らしていない時間、CPU は暇をしている。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この 3 行と 6 個の数字だけ持ち帰ってもらえれば成功。「速くなった」とは一言も言っていないことに注意。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HPC の定石「ノード間は MPI、ノード内は OpenMP」のハイブリッド構成。今回はこの標準的な書き方をそのまま持ち込むのがテーマ。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「USB を挿したまま」ではなく「耳に入れたまま」に近づいたことを強調する。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手元の個体のケースは Wiki 記載の CH342DS ではなく CH347 だった (ハードリビジョン差)。どちらも CDC-ACM なので手順は同じ。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「Linux が動くイヤホン」ではなく「自分のコードを載せられるイヤホン」を探した、という話。文鎮化リスクは共感を得やすい。実際いちばん最初にやったのは工場ファームの全量バックアップ。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「アダプタが嘘をついていないこと」を本物の OpenMPI との一致で担保した、というのが一番言いたい設計判断。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「ヘッダを信じるな、リンクされるバイナリを信じろ」。ここは技術者ウケが良いはず。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逆アセンブルではなく nm でシンボル解決して犯人を特定した、という小ネタも入る。「組み込みは電源とペアリングで死ぬ」は共感ポイント。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デモ的に一番「おっ」となるところ。ケースの中でもタッチは反応する。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32768 = 32³。全要素 1 の行列積は整数値しか通らないので float32 で厳密に一致する。誤差 1 ulp も許さない判定にしてある、は必ず言う。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「イヤホンをトントントントントンと叩くと、両耳で行列積が走って、結果が Bluetooth で PC に飛ぶ」で締める。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「速くなりませんでした」で終わらせず、なぜ遅いかが定量的に説明できることを成果として出す。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できていないことを先に自分で言い切ると、質疑が建設的になる。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締め:「みなさんの耳にも、暇をしている Cortex-M4F が 2 個入っています」。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2148840"/>
            <a:ext cx="11185855" cy="54864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02920" y="2395728"/>
            <a:ext cx="11185855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54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耳で並列計算してみた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611880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夏休みの自由研究 — ワイヤレスイヤホン 2 個を MPI クラスタにする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4224528"/>
            <a:ext cx="11185855" cy="36576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02920" y="4526280"/>
            <a:ext cx="6400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[ 発表者名 ] / [ 所属 ]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A5A5A"/>
                </a:solidFill>
                <a:latin typeface="Consolas"/>
                <a:ea typeface="Consolas"/>
                <a:cs typeface="Consolas"/>
              </a:rPr>
              <a:t>github.com/TamichiRyuto/pine-buds-cluster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31175" y="4526280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50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LT 8 分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9357055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自己紹介 &amp; サマリ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79815" y="329184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50" b="0" i="0">
                <a:solidFill>
                  <a:srgbClr val="8C8C8C"/>
                </a:solidFill>
                <a:latin typeface="Meiryo"/>
                <a:ea typeface="Meiryo"/>
                <a:cs typeface="Meiryo"/>
              </a:rPr>
              <a:t>1 / 14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969264"/>
            <a:ext cx="11185855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502920" y="1188720"/>
            <a:ext cx="3703320" cy="2331720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02920" y="1188720"/>
            <a:ext cx="3703320" cy="384048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02920" y="1188720"/>
            <a:ext cx="3703320" cy="384048"/>
          </a:xfrm>
          <a:prstGeom prst="rect">
            <a:avLst/>
          </a:prstGeom>
          <a:noFill/>
        </p:spPr>
        <p:txBody>
          <a:bodyPr wrap="square" lIns="109728" rIns="109728" tIns="65836" bIns="65836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発表者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572768"/>
            <a:ext cx="3703320" cy="1947672"/>
          </a:xfrm>
          <a:prstGeom prst="rect">
            <a:avLst/>
          </a:prstGeom>
          <a:noFill/>
        </p:spPr>
        <p:txBody>
          <a:bodyPr wrap="square" lIns="109728" rIns="109728" tIns="65836" bIns="65836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名前:    [                    ]</a:t>
            </a:r>
          </a:p>
          <a:p>
            <a:pPr algn="l">
              <a:spcAft>
                <a:spcPts val="1000"/>
              </a:spcAft>
            </a:pPr>
            <a:r>
              <a:rPr sz="14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所属:    [                    ]</a:t>
            </a:r>
          </a:p>
          <a:p>
            <a:pPr algn="l">
              <a:spcAft>
                <a:spcPts val="1000"/>
              </a:spcAft>
            </a:pPr>
            <a:r>
              <a:rPr sz="14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普段:    [                    ]</a:t>
            </a:r>
          </a:p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GitHub:  TamichiRyuto</a:t>
            </a:r>
          </a:p>
        </p:txBody>
      </p:sp>
      <p:sp>
        <p:nvSpPr>
          <p:cNvPr id="9" name="Rectangle 8"/>
          <p:cNvSpPr/>
          <p:nvPr/>
        </p:nvSpPr>
        <p:spPr>
          <a:xfrm>
            <a:off x="4480560" y="1188720"/>
            <a:ext cx="7208215" cy="2331720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4480560" y="1188720"/>
            <a:ext cx="7208215" cy="384048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480560" y="1188720"/>
            <a:ext cx="7208215" cy="384048"/>
          </a:xfrm>
          <a:prstGeom prst="rect">
            <a:avLst/>
          </a:prstGeom>
          <a:noFill/>
        </p:spPr>
        <p:txBody>
          <a:bodyPr wrap="square" lIns="109728" rIns="109728" tIns="65836" bIns="65836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3 行サマリ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1572768"/>
            <a:ext cx="7208215" cy="1947672"/>
          </a:xfrm>
          <a:prstGeom prst="rect">
            <a:avLst/>
          </a:prstGeom>
          <a:noFill/>
        </p:spPr>
        <p:txBody>
          <a:bodyPr wrap="square" lIns="109728" rIns="109728" tIns="65836" bIns="65836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1.  左右のワイヤレスイヤホン 2 個を、2 ノードの計算クラスタにした</a:t>
            </a:r>
          </a:p>
          <a:p>
            <a:pPr algn="l">
              <a:spcAft>
                <a:spcPts val="900"/>
              </a:spcAft>
            </a:pPr>
            <a:r>
              <a:rPr sz="15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2.  MPI のサブセットを自作し、イヤホン同士の Bluetooth リンク (IBRT) に載せた</a:t>
            </a:r>
          </a:p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3.  標準 MPI API で書いた GEMM ベンチを、1 行も変えずに実機で PASS させた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     (OpenMP は API 互換のスタブ。ノード内 2 コア並列はまだ)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3803904"/>
            <a:ext cx="3594506" cy="1042415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502920" y="3895344"/>
            <a:ext cx="3594506" cy="47548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2 ノード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4379976"/>
            <a:ext cx="3594506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右バッズ = rank 0 / 左バッズ = rank 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98594" y="3803904"/>
            <a:ext cx="3594506" cy="1042415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298594" y="3895344"/>
            <a:ext cx="3594506" cy="47548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checksum = 32768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8594" y="4379976"/>
            <a:ext cx="3594506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float32 で厳密一致 → PASS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94268" y="3803904"/>
            <a:ext cx="3594506" cy="1042415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094268" y="3895344"/>
            <a:ext cx="3594506" cy="47548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max_payload 512 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94268" y="4379976"/>
            <a:ext cx="3594506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ヘッダは 300、バイナリは 672、実測は 512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4992624"/>
            <a:ext cx="3594506" cy="1042415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502920" y="5084064"/>
            <a:ext cx="3594506" cy="47548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1,788 checks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5568696"/>
            <a:ext cx="3594506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実機に焼く前のホストテスト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98594" y="4992624"/>
            <a:ext cx="3594506" cy="1042415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4298594" y="5084064"/>
            <a:ext cx="3594506" cy="47548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5 連タップ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98594" y="5568696"/>
            <a:ext cx="3594506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耳を叩くと両バッズで再実行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094268" y="4992624"/>
            <a:ext cx="3594506" cy="1042415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8094268" y="5084064"/>
            <a:ext cx="3594506" cy="47548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80+ commits / 2 週間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94268" y="5568696"/>
            <a:ext cx="3594506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2026-08-18 → 09-01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91495" y="643737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8C8C8C"/>
                </a:solidFill>
                <a:latin typeface="Meiryo"/>
                <a:ea typeface="Meiryo"/>
                <a:cs typeface="Meiryo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9357055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並列計算のおさらい — MPI と OpenMP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79815" y="329184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50" b="0" i="0">
                <a:solidFill>
                  <a:srgbClr val="8C8C8C"/>
                </a:solidFill>
                <a:latin typeface="Meiryo"/>
                <a:ea typeface="Meiryo"/>
                <a:cs typeface="Meiryo"/>
              </a:rPr>
              <a:t>2 / 14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969264"/>
            <a:ext cx="11185855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502920" y="1133856"/>
            <a:ext cx="4892040" cy="2212848"/>
          </a:xfrm>
          <a:prstGeom prst="rect">
            <a:avLst/>
          </a:prstGeom>
          <a:solidFill>
            <a:srgbClr val="FFFFFF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4892040" cy="32918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ノード A  (メモリ空間 A)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1572768"/>
            <a:ext cx="1920240" cy="566928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68680" y="1572768"/>
            <a:ext cx="1920240" cy="566928"/>
          </a:xfrm>
          <a:prstGeom prst="rect">
            <a:avLst/>
          </a:prstGeom>
          <a:noFill/>
        </p:spPr>
        <p:txBody>
          <a:bodyPr wrap="square" lIns="27432" rIns="27432" tIns="16459" bIns="16459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コア 0</a:t>
            </a:r>
          </a:p>
        </p:txBody>
      </p:sp>
      <p:sp>
        <p:nvSpPr>
          <p:cNvPr id="9" name="Rectangle 8"/>
          <p:cNvSpPr/>
          <p:nvPr/>
        </p:nvSpPr>
        <p:spPr>
          <a:xfrm>
            <a:off x="3108960" y="1572768"/>
            <a:ext cx="1920240" cy="566928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3108960" y="1572768"/>
            <a:ext cx="1920240" cy="566928"/>
          </a:xfrm>
          <a:prstGeom prst="rect">
            <a:avLst/>
          </a:prstGeom>
          <a:noFill/>
        </p:spPr>
        <p:txBody>
          <a:bodyPr wrap="square" lIns="27432" rIns="27432" tIns="16459" bIns="16459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コア 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68680" y="2231136"/>
            <a:ext cx="4160520" cy="365760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68680" y="2231136"/>
            <a:ext cx="4160520" cy="365760"/>
          </a:xfrm>
          <a:prstGeom prst="rect">
            <a:avLst/>
          </a:prstGeom>
          <a:noFill/>
        </p:spPr>
        <p:txBody>
          <a:bodyPr wrap="square" lIns="27432" rIns="27432" tIns="16459" bIns="16459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同じ配列を共有 (共有メモリ)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688336"/>
            <a:ext cx="4343400" cy="548640"/>
          </a:xfrm>
          <a:prstGeom prst="rect">
            <a:avLst/>
          </a:prstGeom>
          <a:noFill/>
        </p:spPr>
        <p:txBody>
          <a:bodyPr wrap="square" lIns="27432" rIns="27432" tIns="16459" bIns="16459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スレッドレベル並列 = OpenMP
#pragma omp parallel for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796735" y="1133856"/>
            <a:ext cx="4892040" cy="2212848"/>
          </a:xfrm>
          <a:prstGeom prst="rect">
            <a:avLst/>
          </a:prstGeom>
          <a:solidFill>
            <a:srgbClr val="FFFFFF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796735" y="1188720"/>
            <a:ext cx="4892040" cy="32918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ノード B  (メモリ空間 B)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62495" y="1572768"/>
            <a:ext cx="1920240" cy="566928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162495" y="1572768"/>
            <a:ext cx="1920240" cy="566928"/>
          </a:xfrm>
          <a:prstGeom prst="rect">
            <a:avLst/>
          </a:prstGeom>
          <a:noFill/>
        </p:spPr>
        <p:txBody>
          <a:bodyPr wrap="square" lIns="27432" rIns="27432" tIns="16459" bIns="16459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コア 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402775" y="1572768"/>
            <a:ext cx="1920240" cy="566928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402775" y="1572768"/>
            <a:ext cx="1920240" cy="566928"/>
          </a:xfrm>
          <a:prstGeom prst="rect">
            <a:avLst/>
          </a:prstGeom>
          <a:noFill/>
        </p:spPr>
        <p:txBody>
          <a:bodyPr wrap="square" lIns="27432" rIns="27432" tIns="16459" bIns="16459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コア 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162495" y="2231136"/>
            <a:ext cx="4160520" cy="365760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162495" y="2231136"/>
            <a:ext cx="4160520" cy="365760"/>
          </a:xfrm>
          <a:prstGeom prst="rect">
            <a:avLst/>
          </a:prstGeom>
          <a:noFill/>
        </p:spPr>
        <p:txBody>
          <a:bodyPr wrap="square" lIns="27432" rIns="27432" tIns="16459" bIns="16459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同じ配列を共有 (共有メモリ)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71055" y="2688336"/>
            <a:ext cx="4343400" cy="548640"/>
          </a:xfrm>
          <a:prstGeom prst="rect">
            <a:avLst/>
          </a:prstGeom>
          <a:noFill/>
        </p:spPr>
        <p:txBody>
          <a:bodyPr wrap="square" lIns="27432" rIns="27432" tIns="16459" bIns="16459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スレッドレベル並列 = OpenMP
#pragma omp parallel for</a:t>
            </a:r>
          </a:p>
        </p:txBody>
      </p:sp>
      <p:sp>
        <p:nvSpPr>
          <p:cNvPr id="23" name="Left-Right Arrow 22"/>
          <p:cNvSpPr/>
          <p:nvPr/>
        </p:nvSpPr>
        <p:spPr>
          <a:xfrm>
            <a:off x="5541264" y="1792224"/>
            <a:ext cx="1106424" cy="566928"/>
          </a:xfrm>
          <a:prstGeom prst="leftRightArrow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/>
          <a:lstStyle/>
          <a:p>
            <a:pPr algn="ctr"/>
            <a:r>
              <a:rPr sz="14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MPI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13248" y="2432304"/>
            <a:ext cx="1362456" cy="64008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メモリが
物理的に別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3419856"/>
            <a:ext cx="1118585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クラスタレベル並列 = MPI :  明示的にメッセージを送り合う — MPI_Send / MPI_Recv / MPI_Barrier / MPI_Allreduce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502920" y="3877056"/>
          <a:ext cx="5760719" cy="1975104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289713"/>
                <a:gridCol w="2235503"/>
                <a:gridCol w="2235503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/>
                      </a:r>
                    </a:p>
                  </a:txBody>
                  <a:tcPr marL="64008" marR="64008" marT="18288" marB="18288" anchor="ctr"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OpenMP</a:t>
                      </a:r>
                    </a:p>
                  </a:txBody>
                  <a:tcPr marL="64008" marR="64008" marT="18288" marB="18288" anchor="ctr"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MPI</a:t>
                      </a:r>
                    </a:p>
                  </a:txBody>
                  <a:tcPr marL="64008" marR="64008" marT="18288" marB="18288" anchor="ctr">
                    <a:solidFill>
                      <a:srgbClr val="E8E8E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単位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スレッド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プロセス (ランク)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メモリ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共有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分散 (別空間)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書き方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#pragma omp parallel for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MPI_Send / MPI_Recv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コスト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安い (ns 〜 μs)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高い (μs 〜 ms)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今回の担当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イヤホン内の 2 コア (未達)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イヤホン間 (左 ⇄ 右)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6601968" y="3877056"/>
            <a:ext cx="5084064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601968" y="3922776"/>
            <a:ext cx="5084064" cy="31089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GEMM (行列積) を 2 ランクに分ける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39128" y="4242816"/>
            <a:ext cx="1737360" cy="4572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C = A · B
N = 32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476488" y="4261104"/>
            <a:ext cx="3017520" cy="384048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8476488" y="4261104"/>
            <a:ext cx="3017520" cy="384048"/>
          </a:xfrm>
          <a:prstGeom prst="rect">
            <a:avLst/>
          </a:prstGeom>
          <a:noFill/>
        </p:spPr>
        <p:txBody>
          <a:bodyPr wrap="square" lIns="27432" rIns="27432" tIns="16459" bIns="16459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rank 0  →  行 0 .. 15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476488" y="4681728"/>
            <a:ext cx="3017520" cy="384048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8476488" y="4681728"/>
            <a:ext cx="3017520" cy="384048"/>
          </a:xfrm>
          <a:prstGeom prst="rect">
            <a:avLst/>
          </a:prstGeom>
          <a:noFill/>
        </p:spPr>
        <p:txBody>
          <a:bodyPr wrap="square" lIns="27432" rIns="27432" tIns="16459" bIns="16459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rank 1  →  行 16 .. 31</a:t>
            </a:r>
          </a:p>
        </p:txBody>
      </p:sp>
      <p:sp>
        <p:nvSpPr>
          <p:cNvPr id="34" name="Down Arrow 33"/>
          <p:cNvSpPr/>
          <p:nvPr/>
        </p:nvSpPr>
        <p:spPr>
          <a:xfrm>
            <a:off x="9756648" y="5120640"/>
            <a:ext cx="402336" cy="310896"/>
          </a:xfrm>
          <a:prstGeom prst="downArrow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6711696" y="5468112"/>
            <a:ext cx="4864607" cy="658368"/>
          </a:xfrm>
          <a:prstGeom prst="rect">
            <a:avLst/>
          </a:prstGeom>
          <a:noFill/>
        </p:spPr>
        <p:txBody>
          <a:bodyPr wrap="square" lIns="27432" rIns="27432" tIns="16459" bIns="16459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MPI_Send / MPI_Recv で結果を集約し、
rank 0 が全体の checksum を検証して PASS / FAIL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91495" y="643737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8C8C8C"/>
                </a:solidFill>
                <a:latin typeface="Meiryo"/>
                <a:ea typeface="Meiryo"/>
                <a:cs typeface="Meiryo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9357055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今回のクラスタ構成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79815" y="329184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50" b="0" i="0">
                <a:solidFill>
                  <a:srgbClr val="8C8C8C"/>
                </a:solidFill>
                <a:latin typeface="Meiryo"/>
                <a:ea typeface="Meiryo"/>
                <a:cs typeface="Meiryo"/>
              </a:rPr>
              <a:t>3 / 14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969264"/>
            <a:ext cx="11185855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960120" y="1133856"/>
            <a:ext cx="4224528" cy="1700784"/>
          </a:xfrm>
          <a:prstGeom prst="rect">
            <a:avLst/>
          </a:prstGeom>
          <a:solidFill>
            <a:srgbClr val="FFFFFF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60120" y="1207008"/>
            <a:ext cx="4224528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右バッズ   rank 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609344"/>
            <a:ext cx="4224528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BES2300YP   /   nv_role = MASTER
Cortex-M4F ×2  (単精度 FPU)
SRAM 992 KB  /  Flash 4 MB</a:t>
            </a:r>
          </a:p>
        </p:txBody>
      </p:sp>
      <p:sp>
        <p:nvSpPr>
          <p:cNvPr id="8" name="Rectangle 7"/>
          <p:cNvSpPr/>
          <p:nvPr/>
        </p:nvSpPr>
        <p:spPr>
          <a:xfrm>
            <a:off x="6995159" y="1133856"/>
            <a:ext cx="4224528" cy="1700784"/>
          </a:xfrm>
          <a:prstGeom prst="rect">
            <a:avLst/>
          </a:prstGeom>
          <a:solidFill>
            <a:srgbClr val="FFFFFF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995159" y="1207008"/>
            <a:ext cx="4224528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左バッズ   rank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95159" y="1609344"/>
            <a:ext cx="4224528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BES2300YP   /   nv_role = SLAVE
Cortex-M4F ×2  (単精度 FPU)
SRAM 992 KB  /  Flash 4 MB</a:t>
            </a:r>
          </a:p>
        </p:txBody>
      </p:sp>
      <p:sp>
        <p:nvSpPr>
          <p:cNvPr id="11" name="Left-Right Arrow 10"/>
          <p:cNvSpPr/>
          <p:nvPr/>
        </p:nvSpPr>
        <p:spPr>
          <a:xfrm>
            <a:off x="5376672" y="1700784"/>
            <a:ext cx="1426464" cy="512064"/>
          </a:xfrm>
          <a:prstGeom prst="leftRightArrow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/>
          <a:lstStyle/>
          <a:p>
            <a:pPr algn="ctr"/>
            <a:r>
              <a:rPr sz="13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IBRT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30368" y="2249424"/>
            <a:ext cx="1719072" cy="566928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左右間の
TWS 制御チャネル
(cmdcode 0x8201 を自作)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2834640"/>
            <a:ext cx="1118585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※ rank は左右ストラップ由来で固定。IBRT のロール (master / slave) は起動ごとに入れ替わる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0120" y="3108960"/>
            <a:ext cx="10259568" cy="402336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60120" y="3108960"/>
            <a:ext cx="10259568" cy="402336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Bluetooth SPP (自作ログチャネル)  =  Bluetooth 上のシリアルポート。UART とは独立の経路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5888736" y="3602736"/>
            <a:ext cx="402336" cy="310896"/>
          </a:xfrm>
          <a:prstGeom prst="downArrow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3931920" y="3986784"/>
            <a:ext cx="4315968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3931920" y="4041648"/>
            <a:ext cx="4315968" cy="31089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Windows PC   (COM6)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31920" y="4352544"/>
            <a:ext cx="4315968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0">
                <a:solidFill>
                  <a:srgbClr val="5A5A5A"/>
                </a:solidFill>
                <a:latin typeface="Consolas"/>
                <a:ea typeface="Consolas"/>
                <a:cs typeface="Consolas"/>
              </a:rPr>
              <a:t>#23 GEMM-MPI ... PASS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5047488"/>
            <a:ext cx="3594506" cy="1207008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502920" y="5047488"/>
            <a:ext cx="3594506" cy="384048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502920" y="5047488"/>
            <a:ext cx="3594506" cy="384048"/>
          </a:xfrm>
          <a:prstGeom prst="rect">
            <a:avLst/>
          </a:prstGeom>
          <a:noFill/>
        </p:spPr>
        <p:txBody>
          <a:bodyPr wrap="square" lIns="109728" rIns="109728" tIns="65836" bIns="65836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ノード間 = MPI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5431536"/>
            <a:ext cx="3594506" cy="822960"/>
          </a:xfrm>
          <a:prstGeom prst="rect">
            <a:avLst/>
          </a:prstGeom>
          <a:noFill/>
        </p:spPr>
        <p:txBody>
          <a:bodyPr wrap="square" lIns="109728" rIns="109728" tIns="65836" bIns="6583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自作 MPI サブセットを IBRT (イヤホン同士の
TWS リンク) に載せた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98594" y="5047488"/>
            <a:ext cx="3594506" cy="1207008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4298594" y="5047488"/>
            <a:ext cx="3594506" cy="384048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4298594" y="5047488"/>
            <a:ext cx="3594506" cy="384048"/>
          </a:xfrm>
          <a:prstGeom prst="rect">
            <a:avLst/>
          </a:prstGeom>
          <a:noFill/>
        </p:spPr>
        <p:txBody>
          <a:bodyPr wrap="square" lIns="109728" rIns="109728" tIns="65836" bIns="65836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ノード内 = OpenMP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98594" y="5431536"/>
            <a:ext cx="3594506" cy="822960"/>
          </a:xfrm>
          <a:prstGeom prst="rect">
            <a:avLst/>
          </a:prstGeom>
          <a:noFill/>
        </p:spPr>
        <p:txBody>
          <a:bodyPr wrap="square" lIns="109728" rIns="109728" tIns="65836" bIns="6583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Stage-1 は逐次スタブ。API だけ本物と同じ。
2 コア目は今回未使用 ← 正直に言う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094268" y="5047488"/>
            <a:ext cx="3594506" cy="1207008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8094268" y="5047488"/>
            <a:ext cx="3594506" cy="384048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094268" y="5047488"/>
            <a:ext cx="3594506" cy="384048"/>
          </a:xfrm>
          <a:prstGeom prst="rect">
            <a:avLst/>
          </a:prstGeom>
          <a:noFill/>
        </p:spPr>
        <p:txBody>
          <a:bodyPr wrap="square" lIns="109728" rIns="109728" tIns="65836" bIns="65836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観測 = SPP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94268" y="5431536"/>
            <a:ext cx="3594506" cy="822960"/>
          </a:xfrm>
          <a:prstGeom prst="rect">
            <a:avLst/>
          </a:prstGeom>
          <a:noFill/>
        </p:spPr>
        <p:txBody>
          <a:bodyPr wrap="square" lIns="109728" rIns="109728" tIns="65836" bIns="6583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ログをリングに積んで RFCOMM で PC へ。
seq 番号で欠落・重複を機械検出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91495" y="643737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8C8C8C"/>
                </a:solidFill>
                <a:latin typeface="Meiryo"/>
                <a:ea typeface="Meiryo"/>
                <a:cs typeface="Meiryo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9357055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実験機材: PineBuds Pro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79815" y="329184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50" b="0" i="0">
                <a:solidFill>
                  <a:srgbClr val="8C8C8C"/>
                </a:solidFill>
                <a:latin typeface="Meiryo"/>
                <a:ea typeface="Meiryo"/>
                <a:cs typeface="Meiryo"/>
              </a:rPr>
              <a:t>4 / 14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969264"/>
            <a:ext cx="11185855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133856"/>
          <a:ext cx="6720840" cy="36576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234440"/>
                <a:gridCol w="5486400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項目</a:t>
                      </a:r>
                    </a:p>
                  </a:txBody>
                  <a:tcPr marL="64008" marR="64008" marT="18288" marB="18288" anchor="ctr"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値</a:t>
                      </a:r>
                    </a:p>
                  </a:txBody>
                  <a:tcPr marL="64008" marR="64008" marT="18288" marB="18288" anchor="ctr">
                    <a:solidFill>
                      <a:srgbClr val="E8E8E8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SoC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Bestechnic BES2300YP (左右に 1 個ずつ、完全に独立)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CPU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Dual-core ARM Cortex-M4F @ 最大 300 MHz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FPU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単精度のみ — double はソフトエミュ = 実質禁止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メモリ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SRAM 992 KB (+ BT 共有 64 KB) / Flash 4 MB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ファーム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OpenPineBuds (pine64) — アプリ層は OSS (BT 中核は .a)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ビルド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Docker + Make、gnu++98 / -fno-exceptions / -fno-rtti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デバッグ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充電ケースが USB → デュアル UART を兼ねる (2 Mbaud)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実測残量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RAM 約 330 KB / Flash 約 3.2 MB (2026-08-30 の .map)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位置づけ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実売 1 万円前後、普通に音楽が聴ける TWS イヤホン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498079" y="1133856"/>
            <a:ext cx="4187952" cy="1920240"/>
          </a:xfrm>
          <a:prstGeom prst="rect">
            <a:avLst/>
          </a:prstGeom>
          <a:solidFill>
            <a:srgbClr val="F4F4F4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498079" y="1133856"/>
            <a:ext cx="4187952" cy="1920240"/>
          </a:xfrm>
          <a:prstGeom prst="rect">
            <a:avLst/>
          </a:prstGeom>
          <a:noFill/>
        </p:spPr>
        <p:txBody>
          <a:bodyPr wrap="square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 i="0">
                <a:solidFill>
                  <a:srgbClr val="8C8C8C"/>
                </a:solidFill>
                <a:latin typeface="Meiryo"/>
                <a:ea typeface="Meiryo"/>
                <a:cs typeface="Meiryo"/>
              </a:rPr>
              <a:t>[  PineBuds Pro の写真をここに  ]
slides/assets/pinebuds.jpg を置いて
scripts/make_lt_pptx.py を再実行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79" y="3200400"/>
            <a:ext cx="4187952" cy="1737360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498079" y="3200400"/>
            <a:ext cx="4187952" cy="384048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498079" y="3200400"/>
            <a:ext cx="4187952" cy="384048"/>
          </a:xfrm>
          <a:prstGeom prst="rect">
            <a:avLst/>
          </a:prstGeom>
          <a:noFill/>
        </p:spPr>
        <p:txBody>
          <a:bodyPr wrap="square" lIns="109728" rIns="109728" tIns="65836" bIns="65836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つまり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79" y="3584448"/>
            <a:ext cx="4187952" cy="1353312"/>
          </a:xfrm>
          <a:prstGeom prst="rect">
            <a:avLst/>
          </a:prstGeom>
          <a:noFill/>
        </p:spPr>
        <p:txBody>
          <a:bodyPr wrap="square" lIns="109728" rIns="109728" tIns="65836" bIns="6583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ケースに USB-C を挿すと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/dev/ttyACM0 (右) と /dev/ttyACM1 (左)</a:t>
            </a:r>
          </a:p>
          <a:p>
            <a:pPr algn="l">
              <a:spcAft>
                <a:spcPts val="800"/>
              </a:spcAft>
            </a:pPr>
            <a:r>
              <a:rPr sz="125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が生えて、bestool write-image で自作ファームが焼ける。</a:t>
            </a:r>
          </a:p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イヤホンなのに、開発ボードとして完結している。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98079" y="5084064"/>
            <a:ext cx="4187952" cy="1170432"/>
          </a:xfrm>
          <a:prstGeom prst="rect">
            <a:avLst/>
          </a:prstGeom>
          <a:solidFill>
            <a:srgbClr val="F0F0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498079" y="5084064"/>
            <a:ext cx="4187952" cy="1170432"/>
          </a:xfrm>
          <a:prstGeom prst="rect">
            <a:avLst/>
          </a:prstGeom>
          <a:noFill/>
        </p:spPr>
        <p:txBody>
          <a:bodyPr wrap="square" lIns="109728" rIns="109728" tIns="65836" bIns="6583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$ picocom -b 2000000 /dev/ttyACM0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[ctor] GlobalProbe constructed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hello, C++ from PineBuds (core=0)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GEMM ... checksum=32768.000000 PASS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91495" y="643737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8C8C8C"/>
                </a:solidFill>
                <a:latin typeface="Meiryo"/>
                <a:ea typeface="Meiryo"/>
                <a:cs typeface="Meiryo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9357055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なぜ「普通のワイヤレスイヤホン」ではダメだったのか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79815" y="329184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50" b="0" i="0">
                <a:solidFill>
                  <a:srgbClr val="8C8C8C"/>
                </a:solidFill>
                <a:latin typeface="Meiryo"/>
                <a:ea typeface="Meiryo"/>
                <a:cs typeface="Meiryo"/>
              </a:rPr>
              <a:t>5 / 14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969264"/>
            <a:ext cx="11185855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502920" y="1115568"/>
            <a:ext cx="11185855" cy="475488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02920" y="1115568"/>
            <a:ext cx="11185855" cy="475488"/>
          </a:xfrm>
          <a:prstGeom prst="rect">
            <a:avLst/>
          </a:prstGeom>
          <a:noFill/>
        </p:spPr>
        <p:txBody>
          <a:bodyPr wrap="square" lIns="109728" rIns="109728" tIns="65836" bIns="65836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当初は手持ちの TWS (左右が独立した完全ワイヤレス) でやりたかった。 →  自作コードを載せる手段が見つからなかった。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773936"/>
          <a:ext cx="11185853" cy="2304288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5134490"/>
                <a:gridCol w="2842307"/>
                <a:gridCol w="3209056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自作コードをイヤホンで動かすのに必要なもの</a:t>
                      </a:r>
                    </a:p>
                  </a:txBody>
                  <a:tcPr marL="64008" marR="64008" marT="18288" marB="18288" anchor="ctr"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手元で調べた範囲の市販 TWS</a:t>
                      </a:r>
                    </a:p>
                  </a:txBody>
                  <a:tcPr marL="64008" marR="64008" marT="18288" marB="18288" anchor="ctr"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PineBuds Pro</a:t>
                      </a:r>
                    </a:p>
                  </a:txBody>
                  <a:tcPr marL="64008" marR="64008" marT="18288" marB="18288" anchor="ctr">
                    <a:solidFill>
                      <a:srgbClr val="E8E8E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① ファームウェアのソース / SDK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A32B22"/>
                          </a:solidFill>
                          <a:latin typeface="Meiryo"/>
                          <a:ea typeface="Meiryo"/>
                          <a:cs typeface="Meiryo"/>
                        </a:rPr>
                        <a:t>✗  非公開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E6B3A"/>
                          </a:solidFill>
                          <a:latin typeface="Meiryo"/>
                          <a:ea typeface="Meiryo"/>
                          <a:cs typeface="Meiryo"/>
                        </a:rPr>
                        <a:t>✓  OSS (OpenPineBuds)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② 書き込み経路 (署名されていない FW を焼ける)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A32B22"/>
                          </a:solidFill>
                          <a:latin typeface="Meiryo"/>
                          <a:ea typeface="Meiryo"/>
                          <a:cs typeface="Meiryo"/>
                        </a:rPr>
                        <a:t>✗  書き込み手段が非公開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E6B3A"/>
                          </a:solidFill>
                          <a:latin typeface="Meiryo"/>
                          <a:ea typeface="Meiryo"/>
                          <a:cs typeface="Meiryo"/>
                        </a:rPr>
                        <a:t>✓  bestool で普通に焼ける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③ 標準出力 = デバッグ UART が外に出ている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A32B22"/>
                          </a:solidFill>
                          <a:latin typeface="Meiryo"/>
                          <a:ea typeface="Meiryo"/>
                          <a:cs typeface="Meiryo"/>
                        </a:rPr>
                        <a:t>✗  出ていない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E6B3A"/>
                          </a:solidFill>
                          <a:latin typeface="Meiryo"/>
                          <a:ea typeface="Meiryo"/>
                          <a:cs typeface="Meiryo"/>
                        </a:rPr>
                        <a:t>✓  充電ケースが UART を兼ねる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④ 左右間リンクを叩ける API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A32B22"/>
                          </a:solidFill>
                          <a:latin typeface="Meiryo"/>
                          <a:ea typeface="Meiryo"/>
                          <a:cs typeface="Meiryo"/>
                        </a:rPr>
                        <a:t>✗  非公開の独自 TWS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E6B3A"/>
                          </a:solidFill>
                          <a:latin typeface="Meiryo"/>
                          <a:ea typeface="Meiryo"/>
                          <a:cs typeface="Meiryo"/>
                        </a:rPr>
                        <a:t>✓  IBRT の API がヘッダに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⑤ 文鎮化したときの復旧手段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A32B22"/>
                          </a:solidFill>
                          <a:latin typeface="Meiryo"/>
                          <a:ea typeface="Meiryo"/>
                          <a:cs typeface="Meiryo"/>
                        </a:rPr>
                        <a:t>✗  見つからなかった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E6B3A"/>
                          </a:solidFill>
                          <a:latin typeface="Meiryo"/>
                          <a:ea typeface="Meiryo"/>
                          <a:cs typeface="Meiryo"/>
                        </a:rPr>
                        <a:t>✓  工場 FW + 純正ライタが配布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4617720"/>
            <a:ext cx="11185855" cy="868680"/>
          </a:xfrm>
          <a:prstGeom prst="rect">
            <a:avLst/>
          </a:prstGeom>
          <a:noFill/>
        </p:spPr>
        <p:txBody>
          <a:bodyPr wrap="square" lIns="54864" rIns="54864" tIns="32918" bIns="3291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・ ① 〜 ③ のどれか 1 つでも欠けると「コードを書いても載せられない」ので、実験自体が成立しない</a:t>
            </a:r>
          </a:p>
          <a:p>
            <a:pPr algn="l">
              <a:spcAft>
                <a:spcPts val="500"/>
              </a:spcAft>
            </a:pPr>
            <a:r>
              <a:rPr sz="12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・ 一般的な TWS は音質・ANC・電池のために作られていて、ユーザーが計算を載せる想定がそもそも無い</a:t>
            </a:r>
          </a:p>
          <a:p>
            <a:pPr algn="l">
              <a:spcAft>
                <a:spcPts val="500"/>
              </a:spcAft>
            </a:pPr>
            <a:r>
              <a:rPr sz="12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・ 分解して SWD を引き出す道もあるが、左右 2 個を同じ状態に保って何十回も焼き直す用途には向かない</a:t>
            </a:r>
          </a:p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・ これは手元の機種と自分が調べられた範囲の話で、すべての TWS がそうだと主張するものではない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5577840"/>
            <a:ext cx="11185855" cy="566928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02920" y="5577840"/>
            <a:ext cx="11185855" cy="566928"/>
          </a:xfrm>
          <a:prstGeom prst="rect">
            <a:avLst/>
          </a:prstGeom>
          <a:noFill/>
        </p:spPr>
        <p:txBody>
          <a:bodyPr wrap="square" lIns="109728" rIns="109728" tIns="65836" bIns="65836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4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→  「オープンソースファーム」と「ケースが UART プログラマ」を両立している TWS が、探した範囲でここだけだったので購入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91495" y="643737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8C8C8C"/>
                </a:solidFill>
                <a:latin typeface="Meiryo"/>
                <a:ea typeface="Meiryo"/>
                <a:cs typeface="Meiryo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9357055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やったこと — 全体像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79815" y="329184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50" b="0" i="0">
                <a:solidFill>
                  <a:srgbClr val="8C8C8C"/>
                </a:solidFill>
                <a:latin typeface="Meiryo"/>
                <a:ea typeface="Meiryo"/>
                <a:cs typeface="Meiryo"/>
              </a:rPr>
              <a:t>6 / 14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969264"/>
            <a:ext cx="11185855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502920" y="1115568"/>
            <a:ext cx="11185855" cy="713232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12648" y="1170432"/>
            <a:ext cx="10966399" cy="310896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bench/gemm_mpi_omp.cpp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" y="1463040"/>
            <a:ext cx="10966399" cy="329184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標準 MPI + OpenMP API で書いた GEMM。実機用に 1 行も書き換えない ← これが要件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901952"/>
            <a:ext cx="11185855" cy="713232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12648" y="1956816"/>
            <a:ext cx="10966399" cy="310896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adapters/mpi/  +  adapters/omp/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2249424"/>
            <a:ext cx="10966399" cy="329184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自作 MPI サブセット (Init/Send/Recv/Barrier/Allreduce/Isend/Irecv/Wait) / OpenMP は API 互換スタブ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688336"/>
            <a:ext cx="11185855" cy="713232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12648" y="2743200"/>
            <a:ext cx="10966399" cy="310896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transport seam (関数ポインタ 1 枚)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" y="3035808"/>
            <a:ext cx="10966399" cy="329184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ホスト = pthread ループバック (TDD 用) / 実機 = mpi_frag (断片化 + クレジット制御)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474720"/>
            <a:ext cx="11185855" cy="713232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12648" y="3529584"/>
            <a:ext cx="10966399" cy="310896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firmware/pinebuds_compute/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8" y="3822191"/>
            <a:ext cx="10966399" cy="329184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IBRT glue / SPP ログチャネル / 5 連タップ起動の調停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4261104"/>
            <a:ext cx="11185855" cy="713232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12648" y="4315968"/>
            <a:ext cx="10966399" cy="310896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OpenPineBuds SDK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" y="4608576"/>
            <a:ext cx="10966399" cy="329184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IBRT (TWS 制御) · BESAUD · RTX (CMSIS-RTOS v1)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5102352"/>
            <a:ext cx="11185855" cy="1005840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502920" y="5102352"/>
            <a:ext cx="11185855" cy="384048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502920" y="5102352"/>
            <a:ext cx="11185855" cy="384048"/>
          </a:xfrm>
          <a:prstGeom prst="rect">
            <a:avLst/>
          </a:prstGeom>
          <a:noFill/>
        </p:spPr>
        <p:txBody>
          <a:bodyPr wrap="square" lIns="109728" rIns="109728" tIns="65836" bIns="65836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SDK に合わせるしかない制約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5486400"/>
            <a:ext cx="11185855" cy="621792"/>
          </a:xfrm>
          <a:prstGeom prst="rect">
            <a:avLst/>
          </a:prstGeom>
          <a:noFill/>
        </p:spPr>
        <p:txBody>
          <a:bodyPr wrap="square" lIns="109728" rIns="109728" tIns="65836" bIns="6583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・ -std=gnu++98 / -fno-exceptions / -fno-rtti → C++11 以降が使えない     ・ ヒープ禁止・STL 禁止・静的バッファのみ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・ double 禁止 (単精度 FPU のみ、リテラルは 1.0f)     ・ make check98 で機械的に担保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199632"/>
            <a:ext cx="11185855" cy="292608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規模: adapters 926 行 / firmware 統合 1,656 行 / tests 1,846 行 / 設計ドキュメント 2,643 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91495" y="643737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8C8C8C"/>
                </a:solidFill>
                <a:latin typeface="Meiryo"/>
                <a:ea typeface="Meiryo"/>
                <a:cs typeface="Meiryo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9357055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実装の山場 ① — SDK にソースが無い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79815" y="329184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50" b="0" i="0">
                <a:solidFill>
                  <a:srgbClr val="8C8C8C"/>
                </a:solidFill>
                <a:latin typeface="Meiryo"/>
                <a:ea typeface="Meiryo"/>
                <a:cs typeface="Meiryo"/>
              </a:rPr>
              <a:t>7 / 14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969264"/>
            <a:ext cx="11185855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502920" y="1115568"/>
            <a:ext cx="11185855" cy="548640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02920" y="1115568"/>
            <a:ext cx="11185855" cy="548640"/>
          </a:xfrm>
          <a:prstGeom prst="rect">
            <a:avLst/>
          </a:prstGeom>
          <a:noFill/>
        </p:spPr>
        <p:txBody>
          <a:bodyPr wrap="square" lIns="109728" rIns="109728" tIns="65836" bIns="65836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問題:  左右リンクの本体 services/ibrt_core/ には inc/ と lib/ しか無い  =  プリビルトの .a しか無い  →  仕様が読めない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773936"/>
            <a:ext cx="11185855" cy="475488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02920" y="1773936"/>
            <a:ext cx="11185855" cy="475488"/>
          </a:xfrm>
          <a:prstGeom prst="rect">
            <a:avLst/>
          </a:prstGeom>
          <a:noFill/>
        </p:spPr>
        <p:txBody>
          <a:bodyPr wrap="square" lIns="109728" rIns="109728" tIns="65836" bIns="65836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やったこと:  libtws_ibrt_enhanced_stack_anc_RTX.a を逆アセンブルして、仕様を実物から確定した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2395728"/>
          <a:ext cx="11185853" cy="1536192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033791"/>
                <a:gridCol w="2881205"/>
                <a:gridCol w="2711722"/>
                <a:gridCol w="3559135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調べたこと</a:t>
                      </a:r>
                    </a:p>
                  </a:txBody>
                  <a:tcPr marL="64008" marR="64008" marT="18288" marB="18288" anchor="ctr"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ヘッダの記述</a:t>
                      </a:r>
                    </a:p>
                  </a:txBody>
                  <a:tcPr marL="64008" marR="64008" marT="18288" marB="18288" anchor="ctr"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逆アセンブルした実体</a:t>
                      </a:r>
                    </a:p>
                  </a:txBody>
                  <a:tcPr marL="64008" marR="64008" marT="18288" marB="18288" anchor="ctr"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設計への影響</a:t>
                      </a:r>
                    </a:p>
                  </a:txBody>
                  <a:tcPr marL="64008" marR="64008" marT="18288" marB="18288" anchor="ctr">
                    <a:solidFill>
                      <a:srgbClr val="E8E8E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送信ペイロード上限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APP_TWS_CTRL_BUFFER_MAX_LEN = 300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実行時 assert は 672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300 と 672 のどちらで切るかで設計が変わる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RX ハンドラのスレッド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記述なし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BesbtThread (BT スタック本体)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ここをブロックすると BT が全部止まる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送信ポンプ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記述なし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同じループの 1 行上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計算は別スレッドに隔離する必要がある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502920" y="4224528"/>
            <a:ext cx="5760720" cy="2011680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02920" y="4224528"/>
            <a:ext cx="5760720" cy="384048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02920" y="4224528"/>
            <a:ext cx="5760720" cy="384048"/>
          </a:xfrm>
          <a:prstGeom prst="rect">
            <a:avLst/>
          </a:prstGeom>
          <a:noFill/>
        </p:spPr>
        <p:txBody>
          <a:bodyPr wrap="square" lIns="109728" rIns="109728" tIns="65836" bIns="65836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確定した設計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608576"/>
            <a:ext cx="5760720" cy="1627632"/>
          </a:xfrm>
          <a:prstGeom prst="rect">
            <a:avLst/>
          </a:prstGeom>
          <a:noFill/>
        </p:spPr>
        <p:txBody>
          <a:bodyPr wrap="square" lIns="109728" rIns="109728" tIns="65836" bIns="65836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・ 計算は専用スレッドに隔離</a:t>
            </a:r>
          </a:p>
          <a:p>
            <a:pPr algn="l">
              <a:spcAft>
                <a:spcPts val="800"/>
              </a:spcAft>
            </a:pPr>
            <a:r>
              <a:rPr sz="110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   app_init 末尾で同期実行すると電源管理まで止まる</a:t>
            </a:r>
          </a:p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・ ペイロード上限は「実測で決める」</a:t>
            </a:r>
          </a:p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   起動時に 4 → 64 → ... → 668 B を掃引するモードを実装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   実測 max_payload = 512  (668 は TIMEOUT)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92240" y="4224528"/>
            <a:ext cx="5193792" cy="2011680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6492240" y="4224528"/>
            <a:ext cx="5193792" cy="384048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492240" y="4224528"/>
            <a:ext cx="5193792" cy="384048"/>
          </a:xfrm>
          <a:prstGeom prst="rect">
            <a:avLst/>
          </a:prstGeom>
          <a:noFill/>
        </p:spPr>
        <p:txBody>
          <a:bodyPr wrap="square" lIns="109728" rIns="109728" tIns="65836" bIns="65836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実装したトランスポート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608576"/>
            <a:ext cx="5193792" cy="1627632"/>
          </a:xfrm>
          <a:prstGeom prst="rect">
            <a:avLst/>
          </a:prstGeom>
          <a:noFill/>
        </p:spPr>
        <p:txBody>
          <a:bodyPr wrap="square" lIns="109728" rIns="109728" tIns="65836" bIns="65836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・ 256 B 超は 268 B フレームに断片化 (ペイロード 256 B)</a:t>
            </a:r>
          </a:p>
          <a:p>
            <a:pPr algn="l">
              <a:spcAft>
                <a:spcPts val="800"/>
              </a:spcAft>
            </a:pPr>
            <a:r>
              <a:rPr sz="110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   クレジット制御 W=2 で in-flight を 536 B に抑える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・ 実測 512 B はメッセージ上限。ヘッダの 300 でも</a:t>
            </a:r>
          </a:p>
          <a:p>
            <a:pPr algn="l">
              <a:spcAft>
                <a:spcPts val="800"/>
              </a:spcAft>
            </a:pPr>
            <a:r>
              <a:rPr sz="110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   blob の 672 でもなかった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・ 追加 RAM: MPI 5.5 KB + SPP ログ 9.3 KB ≒ 15 KB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   RAM 残 330 KB に対して余裕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91495" y="643737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8C8C8C"/>
                </a:solidFill>
                <a:latin typeface="Meiryo"/>
                <a:ea typeface="Meiryo"/>
                <a:cs typeface="Meiryo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9357055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実装の山場 ② — 実機は 1 発では動かない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79815" y="329184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50" b="0" i="0">
                <a:solidFill>
                  <a:srgbClr val="8C8C8C"/>
                </a:solidFill>
                <a:latin typeface="Meiryo"/>
                <a:ea typeface="Meiryo"/>
                <a:cs typeface="Meiryo"/>
              </a:rPr>
              <a:t>8 / 14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969264"/>
            <a:ext cx="11185855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115568"/>
          <a:ext cx="6949440" cy="352044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308864"/>
                <a:gridCol w="2316480"/>
                <a:gridCol w="2625344"/>
                <a:gridCol w="1698752"/>
              </a:tblGrid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#</a:t>
                      </a:r>
                    </a:p>
                  </a:txBody>
                  <a:tcPr marL="64008" marR="64008" marT="18288" marB="18288" anchor="ctr"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症状</a:t>
                      </a:r>
                    </a:p>
                  </a:txBody>
                  <a:tcPr marL="64008" marR="64008" marT="18288" marB="18288" anchor="ctr"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原因</a:t>
                      </a:r>
                    </a:p>
                  </a:txBody>
                  <a:tcPr marL="64008" marR="64008" marT="18288" marB="18288" anchor="ctr"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対処</a:t>
                      </a:r>
                    </a:p>
                  </a:txBody>
                  <a:tcPr marL="64008" marR="64008" marT="18288" marB="18288" anchor="ctr">
                    <a:solidFill>
                      <a:srgbClr val="E8E8E8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1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finalize の 2 秒後に MemFault で無限リブート (17.5 秒周期)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RTX でスレッドが自分自身を終了させるとスケジューラが壊れる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return させず park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2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充電起動すると BT スタックが上がらない (size=1 に縮退)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CHARGER_PLUGINOUT_RESET=1 の副作用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target.mk を 0 にパッチ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3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走行中にリンクが切れる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充電器の PLUGIN が CLOSE_BOX を注入していた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箱イベントを遮断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4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起動 15 〜 60 秒で勝手に電源が落ちる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FULL_CHARGING → app_shutdown() (満充電シャットダウン)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app_shutdown() を if(0)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5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PC と再ペアリングできない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通常ビルドは page scan だけで inquiry scan を出さない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専用ビルドで discoverable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6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SPP ログの先頭 512 B だけ二重に届く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1 回の RFCOMM open で CONNECTED が 2 回上がる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送信 FSM で重複を無視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635240" y="1115568"/>
            <a:ext cx="4050791" cy="2103120"/>
          </a:xfrm>
          <a:prstGeom prst="rect">
            <a:avLst/>
          </a:prstGeom>
          <a:solidFill>
            <a:srgbClr val="F0F0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635240" y="1152144"/>
            <a:ext cx="4050791" cy="292608"/>
          </a:xfrm>
          <a:prstGeom prst="rect">
            <a:avLst/>
          </a:prstGeom>
          <a:noFill/>
        </p:spPr>
        <p:txBody>
          <a:bodyPr wrap="square" lIns="109728" rIns="109728" tIns="65836" bIns="6583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Run 2 : 両バッズ・毎ブート・17.5 秒周期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426464"/>
            <a:ext cx="4050791" cy="1792223"/>
          </a:xfrm>
          <a:prstGeom prst="rect">
            <a:avLst/>
          </a:prstGeom>
          <a:noFill/>
        </p:spPr>
        <p:txBody>
          <a:bodyPr wrap="square" lIns="109728" rIns="109728" tIns="65836" bIns="6583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[mpi] finalize done rank=0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### EXCEPTION ###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CFSR =00000082   ; MMARVALID|DACCVIOL</a:t>
            </a:r>
          </a:p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MMFAR=00000034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FaultCause: (Data access violation)</a:t>
            </a:r>
          </a:p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Current Task    : 0   &lt;- 走るタスクが居ない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New Running Task: 255  ; idle TCB</a:t>
            </a:r>
          </a:p>
        </p:txBody>
      </p:sp>
      <p:sp>
        <p:nvSpPr>
          <p:cNvPr id="9" name="Rectangle 8"/>
          <p:cNvSpPr/>
          <p:nvPr/>
        </p:nvSpPr>
        <p:spPr>
          <a:xfrm>
            <a:off x="7635240" y="3364992"/>
            <a:ext cx="4050791" cy="1097280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7635240" y="3364992"/>
            <a:ext cx="4050791" cy="384048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635240" y="3364992"/>
            <a:ext cx="4050791" cy="384048"/>
          </a:xfrm>
          <a:prstGeom prst="rect">
            <a:avLst/>
          </a:prstGeom>
          <a:noFill/>
        </p:spPr>
        <p:txBody>
          <a:bodyPr wrap="square" lIns="109728" rIns="109728" tIns="65836" bIns="65836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MMFAR が犯人を名指しした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35240" y="3749040"/>
            <a:ext cx="4050791" cy="713232"/>
          </a:xfrm>
          <a:prstGeom prst="rect">
            <a:avLst/>
          </a:prstGeom>
          <a:noFill/>
        </p:spPr>
        <p:txBody>
          <a:bodyPr wrap="square" lIns="109728" rIns="109728" tIns="65836" bIns="6583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0x34 = RTX の OS_TCB 構造体の swap_out_time オフセット。</a:t>
            </a:r>
          </a:p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終了済みスレッドの TCB を NULL 経由で触っていた。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35240" y="4608576"/>
            <a:ext cx="4050791" cy="1097280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5240" y="4608576"/>
            <a:ext cx="4050791" cy="384048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5240" y="4608576"/>
            <a:ext cx="4050791" cy="384048"/>
          </a:xfrm>
          <a:prstGeom prst="rect">
            <a:avLst/>
          </a:prstGeom>
          <a:noFill/>
        </p:spPr>
        <p:txBody>
          <a:bodyPr wrap="square" lIns="109728" rIns="109728" tIns="65836" bIns="65836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効いた運用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35240" y="4992624"/>
            <a:ext cx="4050791" cy="713232"/>
          </a:xfrm>
          <a:prstGeom prst="rect">
            <a:avLst/>
          </a:prstGeom>
          <a:noFill/>
        </p:spPr>
        <p:txBody>
          <a:bodyPr wrap="square" lIns="109728" rIns="109728" tIns="65836" bIns="6583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純ロジックは全部ホストのテストを先に書いた。実機で出た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SPP のバグも 5 本テストに落としてから直した。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5413248"/>
            <a:ext cx="6949440" cy="548640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02920" y="5413248"/>
            <a:ext cx="6949440" cy="548640"/>
          </a:xfrm>
          <a:prstGeom prst="rect">
            <a:avLst/>
          </a:prstGeom>
          <a:noFill/>
        </p:spPr>
        <p:txBody>
          <a:bodyPr wrap="square" tIns="54864" bIns="54864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6 個の地雷のうち、計算に起因するものはゼロ。全部が電源・接続・RTOS・SDK 仕様。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91495" y="643737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8C8C8C"/>
                </a:solidFill>
                <a:latin typeface="Meiryo"/>
                <a:ea typeface="Meiryo"/>
                <a:cs typeface="Meiryo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9357055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実装の山場 ③ — 観測をワイヤレスに / 耳で操作する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79815" y="329184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50" b="0" i="0">
                <a:solidFill>
                  <a:srgbClr val="8C8C8C"/>
                </a:solidFill>
                <a:latin typeface="Meiryo"/>
                <a:ea typeface="Meiryo"/>
                <a:cs typeface="Meiryo"/>
              </a:rPr>
              <a:t>9 / 14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969264"/>
            <a:ext cx="11185855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502920" y="1115568"/>
            <a:ext cx="11185855" cy="420624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02920" y="1115568"/>
            <a:ext cx="11185855" cy="420624"/>
          </a:xfrm>
          <a:prstGeom prst="rect">
            <a:avLst/>
          </a:prstGeom>
          <a:noFill/>
        </p:spPr>
        <p:txBody>
          <a:bodyPr wrap="square" tIns="54864" bIns="54864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USB ケーブルで繋がったイヤホンは、もはやイヤホンではない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682496"/>
            <a:ext cx="5532120" cy="2395728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02920" y="1682496"/>
            <a:ext cx="5532120" cy="384048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02920" y="1682496"/>
            <a:ext cx="5532120" cy="384048"/>
          </a:xfrm>
          <a:prstGeom prst="rect">
            <a:avLst/>
          </a:prstGeom>
          <a:noFill/>
        </p:spPr>
        <p:txBody>
          <a:bodyPr wrap="square" lIns="109728" rIns="109728" tIns="65836" bIns="65836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① Bluetooth SPP に自作ログチャネルを生やす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066544"/>
            <a:ext cx="5532120" cy="2011680"/>
          </a:xfrm>
          <a:prstGeom prst="rect">
            <a:avLst/>
          </a:prstGeom>
          <a:noFill/>
        </p:spPr>
        <p:txBody>
          <a:bodyPr wrap="square" lIns="109728" rIns="109728" tIns="65836" bIns="6583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・ COMPUTE_TRACE のログ行をリングバッファに積み、</a:t>
            </a:r>
          </a:p>
          <a:p>
            <a:pPr algn="l">
              <a:spcAft>
                <a:spcPts val="700"/>
              </a:spcAft>
            </a:pPr>
            <a:r>
              <a:rPr sz="120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   Bluetooth SPP で Windows に流す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・ SPP = Bluetooth 上のシリアルポート。PC 側は</a:t>
            </a:r>
          </a:p>
          <a:p>
            <a:pPr algn="l">
              <a:spcAft>
                <a:spcPts val="700"/>
              </a:spcAft>
            </a:pPr>
            <a:r>
              <a:rPr sz="120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   spp_tail.py COM6 で受けるだけ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・ #&lt;seq&gt; 番号で欠落・重複を機械検出できる</a:t>
            </a:r>
          </a:p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・ UART とは独立の経路なので、原理的に USB は要らない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   (実測はすべて USB 接続下。抜いて動かしたランはまだ無い)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99632" y="1682496"/>
            <a:ext cx="5486400" cy="2395728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6199632" y="1682496"/>
            <a:ext cx="5486400" cy="384048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199632" y="1682496"/>
            <a:ext cx="5486400" cy="384048"/>
          </a:xfrm>
          <a:prstGeom prst="rect">
            <a:avLst/>
          </a:prstGeom>
          <a:noFill/>
        </p:spPr>
        <p:txBody>
          <a:bodyPr wrap="square" lIns="109728" rIns="109728" tIns="65836" bIns="65836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② 5 連タップで GEMM を再実行する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9632" y="2066544"/>
            <a:ext cx="5486400" cy="2011680"/>
          </a:xfrm>
          <a:prstGeom prst="rect">
            <a:avLst/>
          </a:prstGeom>
          <a:noFill/>
        </p:spPr>
        <p:txBody>
          <a:bodyPr wrap="square" lIns="109728" rIns="109728" tIns="65836" bIns="6583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・ タッチパッドは BES2300YP の電源キー入力。</a:t>
            </a:r>
          </a:p>
          <a:p>
            <a:pPr algn="l">
              <a:spcAft>
                <a:spcPts val="700"/>
              </a:spcAft>
            </a:pPr>
            <a:r>
              <a:rPr sz="120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   ジェスチャは SDK がソフトで判定 (hal_key.c)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・ 単タップ 〜 4 連・長押しは既存機能で埋まっていた</a:t>
            </a:r>
          </a:p>
          <a:p>
            <a:pPr algn="l">
              <a:spcAft>
                <a:spcPts val="700"/>
              </a:spcAft>
            </a:pPr>
            <a:r>
              <a:rPr sz="120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   → 未割当の RAMPAGECLICK (5 連) を奪う</a:t>
            </a:r>
          </a:p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・ 調停ロジックはホストで 8 テスト書いてから実装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4480560"/>
            <a:ext cx="2487168" cy="1298448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02920" y="4553712"/>
            <a:ext cx="2487168" cy="329184"/>
          </a:xfrm>
          <a:prstGeom prst="rect">
            <a:avLst/>
          </a:prstGeom>
          <a:noFill/>
        </p:spPr>
        <p:txBody>
          <a:bodyPr wrap="square" lIns="36576" rIns="36576" tIns="21945" bIns="21945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① 5 連タップ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4901184"/>
            <a:ext cx="2487168" cy="786384"/>
          </a:xfrm>
          <a:prstGeom prst="rect">
            <a:avLst/>
          </a:prstGeom>
          <a:noFill/>
        </p:spPr>
        <p:txBody>
          <a:bodyPr wrap="square" lIns="36576" rIns="36576" tIns="21945" bIns="21945" anchor="t">
            <a:spAutoFit/>
          </a:bodyPr>
          <a:lstStyle/>
          <a:p>
            <a:pPr algn="ctr">
              <a:spcAft>
                <a:spcPts val="100"/>
              </a:spcAft>
            </a:pPr>
            <a:r>
              <a:rPr sz="10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叩かれた側だけが
キーイベントを受け取る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3044952" y="4956048"/>
            <a:ext cx="302666" cy="329184"/>
          </a:xfrm>
          <a:prstGeom prst="rightArrow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3402482" y="4480560"/>
            <a:ext cx="2487168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3402482" y="4553712"/>
            <a:ext cx="2487168" cy="329184"/>
          </a:xfrm>
          <a:prstGeom prst="rect">
            <a:avLst/>
          </a:prstGeom>
          <a:noFill/>
        </p:spPr>
        <p:txBody>
          <a:bodyPr wrap="square" lIns="36576" rIns="36576" tIns="21945" bIns="21945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② 相手に START を送る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02482" y="4901184"/>
            <a:ext cx="2487168" cy="786384"/>
          </a:xfrm>
          <a:prstGeom prst="rect">
            <a:avLst/>
          </a:prstGeom>
          <a:noFill/>
        </p:spPr>
        <p:txBody>
          <a:bodyPr wrap="square" lIns="36576" rIns="36576" tIns="21945" bIns="21945" anchor="t">
            <a:spAutoFit/>
          </a:bodyPr>
          <a:lstStyle/>
          <a:p>
            <a:pPr algn="ctr">
              <a:spcAft>
                <a:spcPts val="100"/>
              </a:spcAft>
            </a:pPr>
            <a:r>
              <a:rPr sz="10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左右間の制御チャネルに
5 バイトのフレームを 1 本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5944514" y="4956048"/>
            <a:ext cx="302666" cy="329184"/>
          </a:xfrm>
          <a:prstGeom prst="rightArrow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6302044" y="4480560"/>
            <a:ext cx="2487168" cy="1298448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302044" y="4553712"/>
            <a:ext cx="2487168" cy="329184"/>
          </a:xfrm>
          <a:prstGeom prst="rect">
            <a:avLst/>
          </a:prstGeom>
          <a:noFill/>
        </p:spPr>
        <p:txBody>
          <a:bodyPr wrap="square" lIns="36576" rIns="36576" tIns="21945" bIns="21945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③ 相手も起きる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2044" y="4901184"/>
            <a:ext cx="2487168" cy="786384"/>
          </a:xfrm>
          <a:prstGeom prst="rect">
            <a:avLst/>
          </a:prstGeom>
          <a:noFill/>
        </p:spPr>
        <p:txBody>
          <a:bodyPr wrap="square" lIns="36576" rIns="36576" tIns="21945" bIns="21945" anchor="t">
            <a:spAutoFit/>
          </a:bodyPr>
          <a:lstStyle/>
          <a:p>
            <a:pPr algn="ctr">
              <a:spcAft>
                <a:spcPts val="100"/>
              </a:spcAft>
            </a:pPr>
            <a:r>
              <a:rPr sz="10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受信側は待機セマフォを
解放して計算に入る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8844076" y="4956048"/>
            <a:ext cx="302666" cy="329184"/>
          </a:xfrm>
          <a:prstGeom prst="rightArrow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9201607" y="4480560"/>
            <a:ext cx="2487168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9201607" y="4553712"/>
            <a:ext cx="2487168" cy="329184"/>
          </a:xfrm>
          <a:prstGeom prst="rect">
            <a:avLst/>
          </a:prstGeom>
          <a:noFill/>
        </p:spPr>
        <p:txBody>
          <a:bodyPr wrap="square" lIns="36576" rIns="36576" tIns="21945" bIns="21945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④ 両バッズで GEMM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01607" y="4901184"/>
            <a:ext cx="2487168" cy="786384"/>
          </a:xfrm>
          <a:prstGeom prst="rect">
            <a:avLst/>
          </a:prstGeom>
          <a:noFill/>
        </p:spPr>
        <p:txBody>
          <a:bodyPr wrap="square" lIns="36576" rIns="36576" tIns="21945" bIns="21945" anchor="t">
            <a:spAutoFit/>
          </a:bodyPr>
          <a:lstStyle/>
          <a:p>
            <a:pPr algn="ctr">
              <a:spcAft>
                <a:spcPts val="100"/>
              </a:spcAft>
            </a:pPr>
            <a:r>
              <a:rPr sz="10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rank 0 が checksum を検証
[mpi] run #1 done rank=0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5870448"/>
            <a:ext cx="111858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実行中の連打は捨てる。相手の START が落ちたらタップした側だけが走り、5 秒のストール検出を経て縮退で完走する。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91495" y="643737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8C8C8C"/>
                </a:solidFill>
                <a:latin typeface="Meiryo"/>
                <a:ea typeface="Meiryo"/>
                <a:cs typeface="Meiryo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9357055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結果 ① — 実機ログ (両バッズ / 全条件 PASS)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79815" y="329184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50" b="0" i="0">
                <a:solidFill>
                  <a:srgbClr val="8C8C8C"/>
                </a:solidFill>
                <a:latin typeface="Meiryo"/>
                <a:ea typeface="Meiryo"/>
                <a:cs typeface="Meiryo"/>
              </a:rPr>
              <a:t>10 / 14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969264"/>
            <a:ext cx="11185855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502920" y="1115568"/>
            <a:ext cx="6903720" cy="4023360"/>
          </a:xfrm>
          <a:prstGeom prst="rect">
            <a:avLst/>
          </a:prstGeom>
          <a:solidFill>
            <a:srgbClr val="F0F0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02920" y="1152144"/>
            <a:ext cx="6903720" cy="292608"/>
          </a:xfrm>
          <a:prstGeom prst="rect">
            <a:avLst/>
          </a:prstGeom>
          <a:noFill/>
        </p:spPr>
        <p:txBody>
          <a:bodyPr wrap="square" lIns="109728" rIns="109728" tIns="65836" bIns="6583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Run 4  (2026-09-01)  —  ケース内・充電起動・両バッズ同時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426464"/>
            <a:ext cx="6903720" cy="3712464"/>
          </a:xfrm>
          <a:prstGeom prst="rect">
            <a:avLst/>
          </a:prstGeom>
          <a:noFill/>
        </p:spPr>
        <p:txBody>
          <a:bodyPr wrap="square" lIns="109728" rIns="109728" tIns="65836" bIns="6583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== 右バッズ (rank 0) ==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CHARGING PWRON!  -&gt;  bt_stack_init_done:10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[mpi] side=RIGHT rank=0 nv_role=[IBRT_MASTER] init_done=1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[mpi] init rank=0 size=2 link_wait=200 ms besaud=1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[mpi] peer ok rank=0 peer=1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[mpi] barrier ok</a:t>
            </a:r>
          </a:p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GEMM-MPI N=32 rank=0 size=2 checksum=32768.000000</a:t>
            </a:r>
          </a:p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         expect=32768.000000 PASS</a:t>
            </a:r>
          </a:p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GEMM-MPI elapsed=13 ms  frames tx=2 rx=4 err=0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[mpi] finalize done rank=0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== 左バッズ (rank 1) ==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[mpi] side=LEFT rank=1 nv_role=[IBRT_SLAVE] init_done=1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[mpi] init rank=1 size=2 link_wait=500 ms besaud=1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[mpi] peer ok rank=1 peer=0  -&gt;  [mpi] barrier ok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[mpi] send ok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[mpi] frames tx=2 rx=2 err=0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[mpi] finalize done rank=1</a:t>
            </a:r>
          </a:p>
        </p:txBody>
      </p:sp>
      <p:sp>
        <p:nvSpPr>
          <p:cNvPr id="8" name="Rectangle 7"/>
          <p:cNvSpPr/>
          <p:nvPr/>
        </p:nvSpPr>
        <p:spPr>
          <a:xfrm>
            <a:off x="7607808" y="1115568"/>
            <a:ext cx="4078224" cy="2651760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07808" y="1115568"/>
            <a:ext cx="4078224" cy="384048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07808" y="1115568"/>
            <a:ext cx="4078224" cy="384048"/>
          </a:xfrm>
          <a:prstGeom prst="rect">
            <a:avLst/>
          </a:prstGeom>
          <a:noFill/>
        </p:spPr>
        <p:txBody>
          <a:bodyPr wrap="square" lIns="109728" rIns="109728" tIns="65836" bIns="65836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合否条件 — すべて充足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17536" y="1645920"/>
            <a:ext cx="274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E6B3A"/>
                </a:solidFill>
                <a:latin typeface="Meiryo"/>
                <a:ea typeface="Meiryo"/>
                <a:cs typeface="Meiryo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0" y="1627632"/>
            <a:ext cx="356616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両側 size=2 — 縮退していない = 本当に 2 ノードで走った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17536" y="2176272"/>
            <a:ext cx="274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E6B3A"/>
                </a:solidFill>
                <a:latin typeface="Meiryo"/>
                <a:ea typeface="Meiryo"/>
                <a:cs typeface="Meiryo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2157984"/>
            <a:ext cx="356616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checksum=32768.000000 の厳密一致 (float32 で誤差ゼロ)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17536" y="2706624"/>
            <a:ext cx="274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E6B3A"/>
                </a:solidFill>
                <a:latin typeface="Meiryo"/>
                <a:ea typeface="Meiryo"/>
                <a:cs typeface="Meiryo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2688336"/>
            <a:ext cx="356616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rank 0 / rank 1 が左右で 1 つずつ (静的 rank が設計どおり)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17536" y="3236976"/>
            <a:ext cx="274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E6B3A"/>
                </a:solidFill>
                <a:latin typeface="Meiryo"/>
                <a:ea typeface="Meiryo"/>
                <a:cs typeface="Meiryo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0" y="3218688"/>
            <a:ext cx="356616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EXCEPTION 0 回・MPI フレーム送信失敗 0 回・リブート無し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07808" y="3913632"/>
            <a:ext cx="4078224" cy="2231136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7607808" y="3913632"/>
            <a:ext cx="4078224" cy="384048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607808" y="3913632"/>
            <a:ext cx="4078224" cy="384048"/>
          </a:xfrm>
          <a:prstGeom prst="rect">
            <a:avLst/>
          </a:prstGeom>
          <a:noFill/>
        </p:spPr>
        <p:txBody>
          <a:bodyPr wrap="square" lIns="109728" rIns="109728" tIns="65836" bIns="65836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なぜ checksum で判定できるのか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07808" y="4297680"/>
            <a:ext cx="4078224" cy="1847088"/>
          </a:xfrm>
          <a:prstGeom prst="rect">
            <a:avLst/>
          </a:prstGeom>
          <a:noFill/>
        </p:spPr>
        <p:txBody>
          <a:bodyPr wrap="square" lIns="109728" rIns="109728" tIns="65836" bIns="65836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32768 = 32³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全要素 1 の行列積は C[i][j]=32 で整数値しか通らない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→ float32 でも丸め誤差がゼロ</a:t>
            </a:r>
          </a:p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→ 厳密一致以外を許さない判定にできる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91495" y="643737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8C8C8C"/>
                </a:solidFill>
                <a:latin typeface="Meiryo"/>
                <a:ea typeface="Meiryo"/>
                <a:cs typeface="Meiryo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9357055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結果 ② — ワイヤレス受信と 5 連タップ再実行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79815" y="329184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50" b="0" i="0">
                <a:solidFill>
                  <a:srgbClr val="8C8C8C"/>
                </a:solidFill>
                <a:latin typeface="Meiryo"/>
                <a:ea typeface="Meiryo"/>
                <a:cs typeface="Meiryo"/>
              </a:rPr>
              <a:t>11 / 14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969264"/>
            <a:ext cx="11185855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502920" y="1115568"/>
            <a:ext cx="5989320" cy="2395728"/>
          </a:xfrm>
          <a:prstGeom prst="rect">
            <a:avLst/>
          </a:prstGeom>
          <a:solidFill>
            <a:srgbClr val="F0F0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02920" y="1152144"/>
            <a:ext cx="5989320" cy="292608"/>
          </a:xfrm>
          <a:prstGeom prst="rect">
            <a:avLst/>
          </a:prstGeom>
          <a:noFill/>
        </p:spPr>
        <p:txBody>
          <a:bodyPr wrap="square" lIns="109728" rIns="109728" tIns="65836" bIns="6583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Run 12 : Bluetooth SPP で PC が受けたログ (欠落・重複ゼロ)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426464"/>
            <a:ext cx="5989320" cy="2084832"/>
          </a:xfrm>
          <a:prstGeom prst="rect">
            <a:avLst/>
          </a:prstGeom>
          <a:noFill/>
        </p:spPr>
        <p:txBody>
          <a:bodyPr wrap="square" lIns="109728" rIns="109728" tIns="65836" bIns="6583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#0  [ctor] GlobalProbe constructed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#1  hello, C++ from PineBuds (core=0)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#2  GEMM float N=32  checksum=32768.000000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                       expect=32768.000000  PASS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#3  GEMM elapsed=9 ms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#7  [mpi] peer ok rank=1 peer=0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#16 [mpi-t1] probe len=512 ok rtt=124 ms</a:t>
            </a:r>
          </a:p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#18 [mpi-t1] rtt n=100 min=44 avg=169 max=407 ms</a:t>
            </a:r>
          </a:p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#19 [mpi-t1] max_payload=512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#20 [mpi] barrier ok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#23 [mpi] finalize done rank=1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675120" y="1115568"/>
          <a:ext cx="5010910" cy="219456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819967"/>
                <a:gridCol w="1731042"/>
                <a:gridCol w="1457719"/>
                <a:gridCol w="1002182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run</a:t>
                      </a:r>
                    </a:p>
                  </a:txBody>
                  <a:tcPr marL="64008" marR="64008" marT="18288" marB="18288" anchor="ctr"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トリガ</a:t>
                      </a:r>
                    </a:p>
                  </a:txBody>
                  <a:tcPr marL="64008" marR="64008" marT="18288" marB="18288" anchor="ctr"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結果</a:t>
                      </a:r>
                    </a:p>
                  </a:txBody>
                  <a:tcPr marL="64008" marR="64008" marT="18288" marB="18288" anchor="ctr"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elapsed</a:t>
                      </a:r>
                    </a:p>
                  </a:txBody>
                  <a:tcPr marL="64008" marR="64008" marT="18288" marB="18288" anchor="ctr">
                    <a:solidFill>
                      <a:srgbClr val="E8E8E8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起動時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自動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PASS  size=2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12 ms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#1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右を 5 連タップ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PASS  size=2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128 ms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#2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左を 5 連タップ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PASS  size=2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5 ms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#3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右を 5 連タップ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PASS  size=2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115 ms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#4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左を 5 連タップ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PASS  size=2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83 ms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675120" y="3474720"/>
            <a:ext cx="5010912" cy="27432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Run 13 : 右 = rank 0 の UART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75120" y="3785615"/>
            <a:ext cx="5010912" cy="2359152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6675120" y="3785615"/>
            <a:ext cx="5010912" cy="384048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675120" y="3785615"/>
            <a:ext cx="5010912" cy="384048"/>
          </a:xfrm>
          <a:prstGeom prst="rect">
            <a:avLst/>
          </a:prstGeom>
          <a:noFill/>
        </p:spPr>
        <p:txBody>
          <a:bodyPr wrap="square" lIns="109728" rIns="109728" tIns="65836" bIns="65836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読み方と、正直な注記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4169663"/>
            <a:ext cx="5010912" cy="1975104"/>
          </a:xfrm>
          <a:prstGeom prst="rect">
            <a:avLst/>
          </a:prstGeom>
          <a:noFill/>
        </p:spPr>
        <p:txBody>
          <a:bodyPr wrap="square" lIns="109728" rIns="109728" tIns="65836" bIns="6583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・ タップした側が先に走り出し、相手は START の伝搬待ちで合流する</a:t>
            </a:r>
          </a:p>
          <a:p>
            <a:pPr algn="l">
              <a:spcAft>
                <a:spcPts val="800"/>
              </a:spcAft>
            </a:pPr>
            <a:r>
              <a:rPr sz="11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   → タップした側 (rank 0) の elapsed が伸びる  (#1 / #3)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・ このランで COM6 に出たのは左 (rank 1) のログだけ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   IBRT の slave 側の SPP 送信は電波に乗らないので、rank 0 の</a:t>
            </a:r>
          </a:p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   GEMM-MPI 行は UART 側にしか出ていない (未解決)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621024"/>
            <a:ext cx="5989320" cy="1828800"/>
          </a:xfrm>
          <a:prstGeom prst="rect">
            <a:avLst/>
          </a:prstGeom>
          <a:solidFill>
            <a:srgbClr val="F0F0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02920" y="3657600"/>
            <a:ext cx="5989320" cy="292608"/>
          </a:xfrm>
          <a:prstGeom prst="rect">
            <a:avLst/>
          </a:prstGeom>
          <a:noFill/>
        </p:spPr>
        <p:txBody>
          <a:bodyPr wrap="square" lIns="109728" rIns="109728" tIns="65836" bIns="6583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Run 13 : 5 連タップ時の右バッズ (rank 0) UART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3931920"/>
            <a:ext cx="5989320" cy="1517904"/>
          </a:xfrm>
          <a:prstGeom prst="rect">
            <a:avLst/>
          </a:prstGeom>
          <a:noFill/>
        </p:spPr>
        <p:txBody>
          <a:bodyPr wrap="square" lIns="109728" rIns="109728" tIns="65836" bIns="6583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app_key_compute_run event 12</a:t>
            </a:r>
          </a:p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[mpi] run #1 trigger=local peer_notified=1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GEMM-MPI N=32 rank=0 size=2 checksum=32768.000000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         expect=32768.000000 PASS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GEMM-MPI elapsed=128 ms frames tx=1 rx=1 err=0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[mpi] run #1 done rank=0</a:t>
            </a:r>
          </a:p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[mpi] run #2 trigger=peer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GEMM-MPI elapsed=5 ms frames tx=1 rx=0 err=0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5577840"/>
            <a:ext cx="5989320" cy="658368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02920" y="5577840"/>
            <a:ext cx="5989320" cy="658368"/>
          </a:xfrm>
          <a:prstGeom prst="rect">
            <a:avLst/>
          </a:prstGeom>
          <a:noFill/>
        </p:spPr>
        <p:txBody>
          <a:bodyPr wrap="square" lIns="73152" rIns="73152" tIns="43891" bIns="43891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3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耳を 5 回叩くと両バッズで行列積が走り、
実行ログが Bluetooth 経由で PC に流れてくる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91495" y="643737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8C8C8C"/>
                </a:solidFill>
                <a:latin typeface="Meiryo"/>
                <a:ea typeface="Meiryo"/>
                <a:cs typeface="Meiryo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9357055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結果 ③ — 数字で見る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79815" y="329184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50" b="0" i="0">
                <a:solidFill>
                  <a:srgbClr val="8C8C8C"/>
                </a:solidFill>
                <a:latin typeface="Meiryo"/>
                <a:ea typeface="Meiryo"/>
                <a:cs typeface="Meiryo"/>
              </a:rPr>
              <a:t>12 / 14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969264"/>
            <a:ext cx="11185855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115568"/>
          <a:ext cx="6903720" cy="164592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243709"/>
                <a:gridCol w="1725930"/>
                <a:gridCol w="2934081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指標</a:t>
                      </a:r>
                    </a:p>
                  </a:txBody>
                  <a:tcPr marL="64008" marR="64008" marT="18288" marB="18288" anchor="ctr"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実測値</a:t>
                      </a:r>
                    </a:p>
                  </a:txBody>
                  <a:tcPr marL="64008" marR="64008" marT="18288" marB="18288" anchor="ctr"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コメント</a:t>
                      </a:r>
                    </a:p>
                  </a:txBody>
                  <a:tcPr marL="64008" marR="64008" marT="18288" marB="18288" anchor="ctr">
                    <a:solidFill>
                      <a:srgbClr val="E8E8E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GEMM N=32  単コア (1 ノード)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5 〜 10 ms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Phase 0.5 のゴールデン基準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GEMM N=32  2 ノード MPI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12 〜 13 ms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通信込み。並列化して遅くなった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左右間 実効ペイロード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512 B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ヘッダの 300 でも blob の 672 でもない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アイドルからの往復 RTT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最大 407 ms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ランごとに変動 (avg 93 〜 278 ms)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02920" y="2889504"/>
            <a:ext cx="6903720" cy="914400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02920" y="2980944"/>
            <a:ext cx="6903720" cy="4206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単コア 5〜10 ms   →   2 ノード 12〜13 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419856"/>
            <a:ext cx="6903720" cy="29260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分散したぶんだけ遅くなった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3950208"/>
            <a:ext cx="6903720" cy="1536192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02920" y="3950208"/>
            <a:ext cx="6903720" cy="384048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02920" y="3950208"/>
            <a:ext cx="6903720" cy="384048"/>
          </a:xfrm>
          <a:prstGeom prst="rect">
            <a:avLst/>
          </a:prstGeom>
          <a:noFill/>
        </p:spPr>
        <p:txBody>
          <a:bodyPr wrap="square" lIns="109728" rIns="109728" tIns="65836" bIns="65836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12 〜 13 ms の読み方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334256"/>
            <a:ext cx="6903720" cy="1152144"/>
          </a:xfrm>
          <a:prstGeom prst="rect">
            <a:avLst/>
          </a:prstGeom>
          <a:noFill/>
        </p:spPr>
        <p:txBody>
          <a:bodyPr wrap="square" lIns="109728" rIns="109728" tIns="65836" bIns="65836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・ 分割で浮く計算は 数 ms (単コア 5〜10 ms の半分)。リンクが張れている間の往復も 数 ms。</a:t>
            </a:r>
          </a:p>
          <a:p>
            <a:pPr algn="l">
              <a:spcAft>
                <a:spcPts val="900"/>
              </a:spcAft>
            </a:pPr>
            <a:r>
              <a:rPr sz="115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  差し引きで通信のほうが勝つ = N=32 では分散する意味がない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・ 407 ms の RTT は 100 回連続プローブ中の値で、GEMM 実行中のレイテンシではない。</a:t>
            </a:r>
          </a:p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  省電力 (sniff) に落ちた状態から叩き起こすとここまで伸びる (タップ再実行の 128 ms)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7808" y="1115568"/>
            <a:ext cx="4078224" cy="4370832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07808" y="1115568"/>
            <a:ext cx="4078224" cy="384048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07808" y="1115568"/>
            <a:ext cx="4078224" cy="384048"/>
          </a:xfrm>
          <a:prstGeom prst="rect">
            <a:avLst/>
          </a:prstGeom>
          <a:noFill/>
        </p:spPr>
        <p:txBody>
          <a:bodyPr wrap="square" lIns="109728" rIns="109728" tIns="65836" bIns="65836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なぜ遅いのか  =  この実験の本題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90688" y="1627632"/>
            <a:ext cx="3712463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790688" y="1664208"/>
            <a:ext cx="3712463" cy="292608"/>
          </a:xfrm>
          <a:prstGeom prst="rect">
            <a:avLst/>
          </a:prstGeom>
          <a:noFill/>
        </p:spPr>
        <p:txBody>
          <a:bodyPr wrap="square" lIns="36576" rIns="36576" tIns="21945" bIns="21945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① 分割で浮く計算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90688" y="1938528"/>
            <a:ext cx="3712463" cy="512064"/>
          </a:xfrm>
          <a:prstGeom prst="rect">
            <a:avLst/>
          </a:prstGeom>
          <a:noFill/>
        </p:spPr>
        <p:txBody>
          <a:bodyPr wrap="square" lIns="36576" rIns="36576" tIns="21945" bIns="21945" anchor="t">
            <a:spAutoFit/>
          </a:bodyPr>
          <a:lstStyle/>
          <a:p>
            <a:pPr algn="ctr">
              <a:spcAft>
                <a:spcPts val="100"/>
              </a:spcAft>
            </a:pPr>
            <a:r>
              <a:rPr sz="110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2 × 32³ ≒ 65,000 flop を半分に
→  数 ms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90688" y="2560320"/>
            <a:ext cx="3712463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790688" y="2596896"/>
            <a:ext cx="3712463" cy="292608"/>
          </a:xfrm>
          <a:prstGeom prst="rect">
            <a:avLst/>
          </a:prstGeom>
          <a:noFill/>
        </p:spPr>
        <p:txBody>
          <a:bodyPr wrap="square" lIns="36576" rIns="36576" tIns="21945" bIns="21945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② 往復に要る時間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90688" y="2871215"/>
            <a:ext cx="3712463" cy="512064"/>
          </a:xfrm>
          <a:prstGeom prst="rect">
            <a:avLst/>
          </a:prstGeom>
          <a:noFill/>
        </p:spPr>
        <p:txBody>
          <a:bodyPr wrap="square" lIns="36576" rIns="36576" tIns="21945" bIns="21945" anchor="t">
            <a:spAutoFit/>
          </a:bodyPr>
          <a:lstStyle/>
          <a:p>
            <a:pPr algn="ctr">
              <a:spcAft>
                <a:spcPts val="100"/>
              </a:spcAft>
            </a:pPr>
            <a:r>
              <a:rPr sz="110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リンクが生きていれば 数 ms
→  ① とほぼ相殺、むしろ負け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90688" y="3493008"/>
            <a:ext cx="3712463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790688" y="3529584"/>
            <a:ext cx="3712463" cy="292608"/>
          </a:xfrm>
          <a:prstGeom prst="rect">
            <a:avLst/>
          </a:prstGeom>
          <a:noFill/>
        </p:spPr>
        <p:txBody>
          <a:bodyPr wrap="square" lIns="36576" rIns="36576" tIns="21945" bIns="21945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③ アイドルからの往復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90688" y="3803904"/>
            <a:ext cx="3712463" cy="512064"/>
          </a:xfrm>
          <a:prstGeom prst="rect">
            <a:avLst/>
          </a:prstGeom>
          <a:noFill/>
        </p:spPr>
        <p:txBody>
          <a:bodyPr wrap="square" lIns="36576" rIns="36576" tIns="21945" bIns="21945" anchor="t">
            <a:spAutoFit/>
          </a:bodyPr>
          <a:lstStyle/>
          <a:p>
            <a:pPr algn="ctr">
              <a:spcAft>
                <a:spcPts val="100"/>
              </a:spcAft>
            </a:pPr>
            <a:r>
              <a:rPr sz="110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最大 407 ms
=  単コア GEMM 40 〜 80 回ぶん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17536" y="4517136"/>
            <a:ext cx="3858768" cy="877824"/>
          </a:xfrm>
          <a:prstGeom prst="rect">
            <a:avLst/>
          </a:prstGeom>
          <a:noFill/>
        </p:spPr>
        <p:txBody>
          <a:bodyPr wrap="square" lIns="54864" rIns="54864" tIns="32918" bIns="32918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「計算量 / 通信量」が小さい問題を
分散してはいけない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5614416"/>
            <a:ext cx="11185855" cy="640080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502920" y="5614416"/>
            <a:ext cx="11185855" cy="640080"/>
          </a:xfrm>
          <a:prstGeom prst="rect">
            <a:avLst/>
          </a:prstGeom>
          <a:noFill/>
        </p:spPr>
        <p:txBody>
          <a:bodyPr wrap="square" tIns="54864" bIns="54864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4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速くはならなかった。が、HPC の教科書どおりの結論を、耳の中で定量的に再現できた。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91495" y="643737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8C8C8C"/>
                </a:solidFill>
                <a:latin typeface="Meiryo"/>
                <a:ea typeface="Meiryo"/>
                <a:cs typeface="Meiryo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9357055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わかったこと / できていないこと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79815" y="329184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50" b="0" i="0">
                <a:solidFill>
                  <a:srgbClr val="8C8C8C"/>
                </a:solidFill>
                <a:latin typeface="Meiryo"/>
                <a:ea typeface="Meiryo"/>
                <a:cs typeface="Meiryo"/>
              </a:rPr>
              <a:t>13 / 14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969264"/>
            <a:ext cx="11185855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502920" y="1115568"/>
            <a:ext cx="5483199" cy="4956048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02920" y="1115568"/>
            <a:ext cx="5483199" cy="420624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02920" y="1115568"/>
            <a:ext cx="5483199" cy="420624"/>
          </a:xfrm>
          <a:prstGeom prst="rect">
            <a:avLst/>
          </a:prstGeom>
          <a:noFill/>
        </p:spPr>
        <p:txBody>
          <a:bodyPr wrap="square" lIns="128016" rIns="128016" tIns="76809" bIns="76809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わかったこと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" y="1645920"/>
            <a:ext cx="29260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E6B3A"/>
                </a:solidFill>
                <a:latin typeface="Meiryo"/>
                <a:ea typeface="Meiryo"/>
                <a:cs typeface="Meiryo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" y="1627632"/>
            <a:ext cx="487969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標準 API のまま実機に載る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1938528"/>
            <a:ext cx="4879695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bench/ のソースは本物の OpenMPI でも自作アダプタでも無改変でビルドでき、3 経路すべて checksum 一致。アダプタ境界の設計が正しかった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" y="2761488"/>
            <a:ext cx="29260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E6B3A"/>
                </a:solidFill>
                <a:latin typeface="Meiryo"/>
                <a:ea typeface="Meiryo"/>
                <a:cs typeface="Meiryo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" y="2743200"/>
            <a:ext cx="487969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ソースが無くても仕様は確定できる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" y="3054096"/>
            <a:ext cx="4879695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プリビルト .a の逆アセンブルで、ヘッダと食い違う実挙動 (上限 672 / RX が BT スタックスレッド) を根拠付きで確定できた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" y="3877056"/>
            <a:ext cx="29260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E6B3A"/>
                </a:solidFill>
                <a:latin typeface="Meiryo"/>
                <a:ea typeface="Meiryo"/>
                <a:cs typeface="Meiryo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" y="3858768"/>
            <a:ext cx="487969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組み込みの敵は計算ではない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" y="4169664"/>
            <a:ext cx="4879695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踏んだ 6 個の地雷のうち、計算に起因するものはゼロ。全部が電源・接続・RTOS・SDK の仕様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" y="4992624"/>
            <a:ext cx="29260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E6B3A"/>
                </a:solidFill>
                <a:latin typeface="Meiryo"/>
                <a:ea typeface="Meiryo"/>
                <a:cs typeface="Meiryo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1832" y="4974336"/>
            <a:ext cx="487969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ホストで TDD できる形に切ると実機デバッグが激減する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" y="5285232"/>
            <a:ext cx="4879695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実機で 1 回試す前にホストで 1,788 checks。実機で出たバグもホストのテストに落としてから直した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05575" y="1115568"/>
            <a:ext cx="5483199" cy="4956048"/>
          </a:xfrm>
          <a:prstGeom prst="rect">
            <a:avLst/>
          </a:prstGeom>
          <a:solidFill>
            <a:srgbClr val="FFFFFF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6205575" y="1115568"/>
            <a:ext cx="5483199" cy="420624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205575" y="1115568"/>
            <a:ext cx="5483199" cy="420624"/>
          </a:xfrm>
          <a:prstGeom prst="rect">
            <a:avLst/>
          </a:prstGeom>
          <a:noFill/>
        </p:spPr>
        <p:txBody>
          <a:bodyPr wrap="square" lIns="128016" rIns="128016" tIns="76809" bIns="76809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できていないこと (正直に)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33591" y="1645920"/>
            <a:ext cx="29260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A32B22"/>
                </a:solidFill>
                <a:latin typeface="Meiryo"/>
                <a:ea typeface="Meiryo"/>
                <a:cs typeface="Meiryo"/>
              </a:rPr>
              <a:t>✗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44487" y="1627632"/>
            <a:ext cx="487969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ノード内 2 コア並列は未達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44487" y="1938528"/>
            <a:ext cx="4879695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OpenMP は Stage-1 の逐次スタブのまま。2 個目のコア (CP) は音声処理が使っており、計算に取ると取り合いになる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33591" y="2761488"/>
            <a:ext cx="29260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A32B22"/>
                </a:solidFill>
                <a:latin typeface="Meiryo"/>
                <a:ea typeface="Meiryo"/>
                <a:cs typeface="Meiryo"/>
              </a:rPr>
              <a:t>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44487" y="2743200"/>
            <a:ext cx="487969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slave 側のログが電波に乗らない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44487" y="3054096"/>
            <a:ext cx="4879695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IBRT の snoop リンクでは slave の SPP 送信がスタック上は成功扱いなのに実際には飛ばない。rank 0 が master の時しか PC に届かない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33591" y="3877056"/>
            <a:ext cx="29260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A32B22"/>
                </a:solidFill>
                <a:latin typeface="Meiryo"/>
                <a:ea typeface="Meiryo"/>
                <a:cs typeface="Meiryo"/>
              </a:rPr>
              <a:t>✗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44487" y="3858768"/>
            <a:ext cx="487969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音楽再生との同時実行は未検証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44487" y="4169664"/>
            <a:ext cx="4879695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「イヤホンとして使いながら裏で計算」はまだ道半ば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33591" y="4992624"/>
            <a:ext cx="29260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A32B22"/>
                </a:solidFill>
                <a:latin typeface="Meiryo"/>
                <a:ea typeface="Meiryo"/>
                <a:cs typeface="Meiryo"/>
              </a:rPr>
              <a:t>✗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44487" y="4974336"/>
            <a:ext cx="487969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N を大きくした時のスケーリングは未計測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44487" y="5285232"/>
            <a:ext cx="4879695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RAM 330 KB の上限は N≈128。そこまでで通信コストを償却できるかは未検証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91495" y="643737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8C8C8C"/>
                </a:solidFill>
                <a:latin typeface="Meiryo"/>
                <a:ea typeface="Meiryo"/>
                <a:cs typeface="Meiryo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9357055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まとめ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79815" y="329184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50" b="0" i="0">
                <a:solidFill>
                  <a:srgbClr val="8C8C8C"/>
                </a:solidFill>
                <a:latin typeface="Meiryo"/>
                <a:ea typeface="Meiryo"/>
                <a:cs typeface="Meiryo"/>
              </a:rPr>
              <a:t>14 / 14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969264"/>
            <a:ext cx="11185855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502920" y="1115568"/>
            <a:ext cx="11185855" cy="786384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02920" y="1115568"/>
            <a:ext cx="11185855" cy="786384"/>
          </a:xfrm>
          <a:prstGeom prst="rect">
            <a:avLst/>
          </a:prstGeom>
          <a:noFill/>
        </p:spPr>
        <p:txBody>
          <a:bodyPr wrap="square" tIns="54864" bIns="54864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1 万円のワイヤレスイヤホン 2 個  =  2 ノードの MPI クラスタ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21408"/>
            <a:ext cx="31089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E6B3A"/>
                </a:solidFill>
                <a:latin typeface="Meiryo"/>
                <a:ea typeface="Meiryo"/>
                <a:cs typeface="Meiryo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1" y="2139696"/>
            <a:ext cx="1036289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標準 MPI API で書いたベンチが、無改変で耳の中で PASS した (OpenMP は互換スタブ)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578608"/>
            <a:ext cx="31089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E6B3A"/>
                </a:solidFill>
                <a:latin typeface="Meiryo"/>
                <a:ea typeface="Meiryo"/>
                <a:cs typeface="Meiryo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1" y="2596896"/>
            <a:ext cx="1036289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checksum=32768.000000 厳密一致 / 両バッズ size=2 / EXCEPTION 0 回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035808"/>
            <a:ext cx="31089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E6B3A"/>
                </a:solidFill>
                <a:latin typeface="Meiryo"/>
                <a:ea typeface="Meiryo"/>
                <a:cs typeface="Meiryo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1" y="3054096"/>
            <a:ext cx="1036289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5 連タップで再実行、結果は Bluetooth SPP で PC にワイヤレス配信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493008"/>
            <a:ext cx="31089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A32B22"/>
                </a:solidFill>
                <a:latin typeface="Meiryo"/>
                <a:ea typeface="Meiryo"/>
                <a:cs typeface="Meiryo"/>
              </a:rPr>
              <a:t>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1" y="3511296"/>
            <a:ext cx="1036289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速くはならなかった (単コア 5〜10 ms → 2 ノード 12〜13 ms) — 理由は定量的に説明できる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4023360"/>
            <a:ext cx="3594506" cy="1188720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02920" y="4023360"/>
            <a:ext cx="3594506" cy="384048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502920" y="4023360"/>
            <a:ext cx="3594506" cy="384048"/>
          </a:xfrm>
          <a:prstGeom prst="rect">
            <a:avLst/>
          </a:prstGeom>
          <a:noFill/>
        </p:spPr>
        <p:txBody>
          <a:bodyPr wrap="square" lIns="109728" rIns="109728" tIns="65836" bIns="65836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① ノード内 2 コア並列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4407408"/>
            <a:ext cx="3594506" cy="804672"/>
          </a:xfrm>
          <a:prstGeom prst="rect">
            <a:avLst/>
          </a:prstGeom>
          <a:noFill/>
        </p:spPr>
        <p:txBody>
          <a:bodyPr wrap="square" lIns="109728" rIns="109728" tIns="65836" bIns="6583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OpenMP Stage-2。CP コアを音声処理と
どう分け合うかが論点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98594" y="4023360"/>
            <a:ext cx="3594506" cy="1188720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4298594" y="4023360"/>
            <a:ext cx="3594506" cy="384048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4298594" y="4023360"/>
            <a:ext cx="3594506" cy="384048"/>
          </a:xfrm>
          <a:prstGeom prst="rect">
            <a:avLst/>
          </a:prstGeom>
          <a:noFill/>
        </p:spPr>
        <p:txBody>
          <a:bodyPr wrap="square" lIns="109728" rIns="109728" tIns="65836" bIns="65836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② 通信に耐える問題を選ぶ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98594" y="4407408"/>
            <a:ext cx="3594506" cy="804672"/>
          </a:xfrm>
          <a:prstGeom prst="rect">
            <a:avLst/>
          </a:prstGeom>
          <a:noFill/>
        </p:spPr>
        <p:txBody>
          <a:bodyPr wrap="square" lIns="109728" rIns="109728" tIns="65836" bIns="6583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Red-Black SOR — ハロー交換は境界だけ
= 通信量が小さい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94268" y="4023360"/>
            <a:ext cx="3594506" cy="1188720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8094268" y="4023360"/>
            <a:ext cx="3594506" cy="384048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8094268" y="4023360"/>
            <a:ext cx="3594506" cy="384048"/>
          </a:xfrm>
          <a:prstGeom prst="rect">
            <a:avLst/>
          </a:prstGeom>
          <a:noFill/>
        </p:spPr>
        <p:txBody>
          <a:bodyPr wrap="square" lIns="109728" rIns="109728" tIns="65836" bIns="65836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③ 音楽再生との同時実行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94268" y="4407408"/>
            <a:ext cx="3594506" cy="804672"/>
          </a:xfrm>
          <a:prstGeom prst="rect">
            <a:avLst/>
          </a:prstGeom>
          <a:noFill/>
        </p:spPr>
        <p:txBody>
          <a:bodyPr wrap="square" lIns="109728" rIns="109728" tIns="65836" bIns="6583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本当に「イヤホンとして使いながら
裏で計算」させる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5340096"/>
            <a:ext cx="11185855" cy="512064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502920" y="5340096"/>
            <a:ext cx="11185855" cy="512064"/>
          </a:xfrm>
          <a:prstGeom prst="rect">
            <a:avLst/>
          </a:prstGeom>
          <a:noFill/>
        </p:spPr>
        <p:txBody>
          <a:bodyPr wrap="square" tIns="54864" bIns="54864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みなさんの耳にも、暇をしている Cortex-M4F が 2 個入っています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02920" y="5980176"/>
            <a:ext cx="11185855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502920" y="6053328"/>
            <a:ext cx="1118585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github.com/TamichiRyuto/pine-buds-cluster</a:t>
            </a:r>
          </a:p>
          <a:p>
            <a:pPr algn="ctr">
              <a:spcAft>
                <a:spcPts val="0"/>
              </a:spcAft>
            </a:pPr>
            <a:r>
              <a:rPr sz="11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設計・実機ログ・失敗の記録はすべて docs/design-ibrt-transport.md (2,643 行) にあります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91495" y="643737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8C8C8C"/>
                </a:solidFill>
                <a:latin typeface="Meiryo"/>
                <a:ea typeface="Meiryo"/>
                <a:cs typeface="Meiryo"/>
              </a:rPr>
              <a:t>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