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つかみ:「イヤホンはコンピュータである」。BES2300YP は Cortex-M4F が 2 個載ったれっきとした MCU。音を鳴らしていない時間、CPU は暇をしている。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 3 行と 6 個の数字だけ持ち帰ってもらえれば成功。「速くなった」とは一言も言っていないことに注意。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HPC の定石「ノード間は MPI、ノード内は OpenMP」。今回はこの標準的な書き方をそのまま持ち込むのがテーマ。OpenMP 側は API だけ揃えた段階。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「USB を挿したまま」ではなく「耳に入れたまま」に近づいたことを強調する。rank は固定、IBRT のロールは起動ごとに入れ替わる。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手元の個体のケースは Wiki 記載の CH342DS ではなく CH347 だった (ハードリビジョン差)。「完全オープンソース」とは言わない — IBRT/BT スタック中核はソースが無い。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「Linux が動くイヤホン」ではなく「自分のコードを載せられるイヤホン」を探した、という話。文鎮化リスクは共感を得やすい。最初にやったのは工場ファームの全量バックアップ。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どこまでが標準 API で、どこからが自作かを一目で見せる。bench/ は本物の OpenMPI でもそのままビルドできる。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 つの世界をまたがないと 1 回も試せない、という絵。「WSL の中の Docker の中の GCC で焼いて、Windows の Python で受ける」で笑いが取れる。② が緑にならないうちは ④ に進まない — 焼いてから気づくと左右 2 個ぶんやり直し、は口頭で。$480 はセッションログのトークン数 × 公開単価の換算値で、実際の請求額ではない。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「ヘッダを信じるな、リンクされるバイナリを信じろ」。300 / 672 / 512 の 3 つの数字を並べるのがこのスライドの山。時間を使うところ。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「組み込みは電源とペアリングで死ぬ」は共感ポイント。MMFAR の値が構造体オフセットと一致した話は必ず言う。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デモ的に一番「おっ」となるところ。ケースの中でもタッチは反応する。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「32768 = 32³。全要素 1 の行列積は整数値しか通らないので float32 で厳密に一致する。誤差 1 ulp も許さない判定」は必ず言う。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「耳を 5 回叩くと両バッズで行列積が走り、実行ログが Bluetooth で PC に流れてくる」で締める。PASS 行そのものが飛んだとは言わない。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「速くなりませんでした」で終わらせず、なぜ遅いかが定量的に説明できることを成果にする。ここが最大の山場。表を指す前に口頭でオチを言う。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できていないことを先に自分で言い切ると、質疑が建設的になる。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締め:「みなさんの耳にも、暇をしている Cortex-M4F が 2 個入っています」。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103120"/>
            <a:ext cx="11185855" cy="6400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2359152"/>
            <a:ext cx="1118585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58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耳で並列計算してみた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639312"/>
            <a:ext cx="11185855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3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夏休みの自由研究 — ワイヤレスイヤホン 2 個を MPI クラスタにする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4315968"/>
            <a:ext cx="11185855" cy="36576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4617720"/>
            <a:ext cx="7315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[ 発表者名 ] / [ 所属 ]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4A4A4A"/>
                </a:solidFill>
                <a:latin typeface="Consolas"/>
                <a:ea typeface="Consolas"/>
                <a:cs typeface="Consolas"/>
              </a:rPr>
              <a:t>github.com/TamichiRyuto/pine-buds-cluster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31175" y="461772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18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LT 8 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935705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自己紹介 &amp; サマリ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1089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3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1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5566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11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52144"/>
            <a:ext cx="3749039" cy="2432304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02920" y="1152144"/>
            <a:ext cx="3749039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02920" y="1152144"/>
            <a:ext cx="3749039" cy="438912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発表者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91056"/>
            <a:ext cx="3749039" cy="1993392"/>
          </a:xfrm>
          <a:prstGeom prst="rect">
            <a:avLst/>
          </a:prstGeom>
          <a:noFill/>
        </p:spPr>
        <p:txBody>
          <a:bodyPr wrap="square" lIns="128016" rIns="128016" tIns="76809" bIns="76809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名前:   [                ]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所属:   [                ]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普段:   [                ]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GitHub: TamichiRyuto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98848" y="1152144"/>
            <a:ext cx="7189927" cy="2432304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498848" y="1152144"/>
            <a:ext cx="7189927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498848" y="1152144"/>
            <a:ext cx="7189927" cy="438912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3 行サマリ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8" y="1591056"/>
            <a:ext cx="7189927" cy="1993392"/>
          </a:xfrm>
          <a:prstGeom prst="rect">
            <a:avLst/>
          </a:prstGeom>
          <a:noFill/>
        </p:spPr>
        <p:txBody>
          <a:bodyPr wrap="square" lIns="128016" rIns="128016" tIns="76809" bIns="76809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1.  ワイヤレスイヤホン 2 個を、2 ノードの計算クラスタにした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2.  MPI を自作し、イヤホン同士の Bluetooth リンクに載せた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3.  標準 MPI API のベンチを、1 行も変えずに実機で PASS させた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     (OpenMP は API 互換のスタブ。ノード内 2 コア並列はまだ)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858768"/>
            <a:ext cx="3594506" cy="1078992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02920" y="3950207"/>
            <a:ext cx="3594506" cy="5120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22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2 ノード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480559"/>
            <a:ext cx="3594506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3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右 = rank 0 / 左 = rank 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8594" y="3858768"/>
            <a:ext cx="3594506" cy="1078992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298594" y="3950207"/>
            <a:ext cx="3594506" cy="5120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22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checksum = 32768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8594" y="4480559"/>
            <a:ext cx="3594506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3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float32 で厳密一致 → PASS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4268" y="3858768"/>
            <a:ext cx="3594506" cy="1078992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94268" y="3950207"/>
            <a:ext cx="3594506" cy="5120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22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max_payload 512 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4268" y="4480559"/>
            <a:ext cx="3594506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3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ヘッダ 300 / バイナリ 672 / 実測 512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5084064"/>
            <a:ext cx="3594506" cy="1078992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02920" y="5175503"/>
            <a:ext cx="3594506" cy="5120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22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1,788 checks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705855"/>
            <a:ext cx="3594506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3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実機に焼く前のホストテスト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98594" y="5084064"/>
            <a:ext cx="3594506" cy="1078992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298594" y="5175503"/>
            <a:ext cx="3594506" cy="5120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22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5 連タップ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8594" y="5705855"/>
            <a:ext cx="3594506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3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耳を叩くと両バッズで再実行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94268" y="5084064"/>
            <a:ext cx="3594506" cy="1078992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094268" y="5175503"/>
            <a:ext cx="3594506" cy="5120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22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80+ commits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4268" y="5705855"/>
            <a:ext cx="3594506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3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2026-08-18 → 09-01 の 2 週間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935705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並列計算のおさらい — MPI と OpenMP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1089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3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2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5566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11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33856"/>
            <a:ext cx="4892040" cy="248716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489204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ノード A  (メモリ空間 A)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1664207"/>
            <a:ext cx="1920240" cy="62179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68680" y="1664207"/>
            <a:ext cx="1920240" cy="621792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コア 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0" y="1664207"/>
            <a:ext cx="1920240" cy="62179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108960" y="1664207"/>
            <a:ext cx="1920240" cy="621792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コア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2377440"/>
            <a:ext cx="4160520" cy="420624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68680" y="2377440"/>
            <a:ext cx="4160520" cy="420624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同じ配列を共有 (共有メモリ)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71215"/>
            <a:ext cx="4434840" cy="566928"/>
          </a:xfrm>
          <a:prstGeom prst="rect">
            <a:avLst/>
          </a:prstGeom>
          <a:noFill/>
        </p:spPr>
        <p:txBody>
          <a:bodyPr wrap="square" lIns="27432" rIns="27432" tIns="16459" bIns="16459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スレッドレベル並列 = OpenMP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96735" y="1133856"/>
            <a:ext cx="4892040" cy="248716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796735" y="1207008"/>
            <a:ext cx="489204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ノード B  (メモリ空間 B)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62495" y="1664207"/>
            <a:ext cx="1920240" cy="62179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162495" y="1664207"/>
            <a:ext cx="1920240" cy="621792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コア 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02775" y="1664207"/>
            <a:ext cx="1920240" cy="62179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402775" y="1664207"/>
            <a:ext cx="1920240" cy="621792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コア 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62495" y="2377440"/>
            <a:ext cx="4160520" cy="420624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162495" y="2377440"/>
            <a:ext cx="4160520" cy="420624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同じ配列を共有 (共有メモリ)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25335" y="2871215"/>
            <a:ext cx="4434840" cy="566928"/>
          </a:xfrm>
          <a:prstGeom prst="rect">
            <a:avLst/>
          </a:prstGeom>
          <a:noFill/>
        </p:spPr>
        <p:txBody>
          <a:bodyPr wrap="square" lIns="27432" rIns="27432" tIns="16459" bIns="16459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スレッドレベル並列 = OpenMP</a:t>
            </a:r>
          </a:p>
        </p:txBody>
      </p:sp>
      <p:sp>
        <p:nvSpPr>
          <p:cNvPr id="24" name="Left-Right Arrow 23"/>
          <p:cNvSpPr/>
          <p:nvPr/>
        </p:nvSpPr>
        <p:spPr>
          <a:xfrm>
            <a:off x="5541264" y="1865376"/>
            <a:ext cx="1106424" cy="621792"/>
          </a:xfrm>
          <a:prstGeom prst="leftRightArrow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/>
          <a:lstStyle/>
          <a:p>
            <a:pPr algn="ctr"/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MPI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94960" y="2560320"/>
            <a:ext cx="1399032" cy="73152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メモリが
物理的に別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639312"/>
            <a:ext cx="11185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4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クラスタレベル並列 = MPI :  明示的にメッセージを送り合う (MPI_Send / MPI_Recv / MPI_Barrier)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02920" y="4059936"/>
          <a:ext cx="5760720" cy="153619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71600"/>
                <a:gridCol w="2377440"/>
                <a:gridCol w="201168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/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OpenMP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MPI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メモリ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共有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分散 (別空間)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コスト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安い (ns 〜 μs)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高い (μs 〜 ms)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今回の担当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2 コア並列 (未達)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イヤホン間 (左 ⇄ 右)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Rectangle 27"/>
          <p:cNvSpPr/>
          <p:nvPr/>
        </p:nvSpPr>
        <p:spPr>
          <a:xfrm>
            <a:off x="6601968" y="4059936"/>
            <a:ext cx="5084064" cy="1956816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601968" y="4114800"/>
            <a:ext cx="5084064" cy="3291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GEMM (行列積) を 2 ランクに分ける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3" y="4462272"/>
            <a:ext cx="4828031" cy="548640"/>
          </a:xfrm>
          <a:prstGeom prst="rect">
            <a:avLst/>
          </a:prstGeom>
          <a:noFill/>
        </p:spPr>
        <p:txBody>
          <a:bodyPr wrap="square" lIns="27432" rIns="27432" tIns="16459" bIns="16459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N</a:t>
            </a:r>
            <a:r>
              <a:rPr sz="13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 = 行列の一辺。N=32 なら 32×32 の行列</a:t>
            </a:r>
          </a:p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size</a:t>
            </a:r>
            <a:r>
              <a:rPr sz="13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 = MPI のランク数 = 参加したバッズの数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76288" y="5047488"/>
            <a:ext cx="2240280" cy="420624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876288" y="5047488"/>
            <a:ext cx="2240280" cy="420624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rank 0 → 行 0 .. 15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08008" y="5047488"/>
            <a:ext cx="2240280" cy="420624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208008" y="5047488"/>
            <a:ext cx="2240280" cy="420624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rank 1 → 行 16 .. 31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11696" y="5541264"/>
            <a:ext cx="4864607" cy="402336"/>
          </a:xfrm>
          <a:prstGeom prst="rect">
            <a:avLst/>
          </a:prstGeom>
          <a:noFill/>
        </p:spPr>
        <p:txBody>
          <a:bodyPr wrap="square" lIns="27432" rIns="27432" tIns="16459" bIns="16459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2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size=1 に縮退しても同じ PASS が出る → size を必ず見る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935705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今回のクラスタ構成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1089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3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3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5566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11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1133856"/>
            <a:ext cx="4224528" cy="1609344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60120" y="1207008"/>
            <a:ext cx="4224528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20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右バッズ   rank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664208"/>
            <a:ext cx="4224528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BES2300YP  /  nv_role = MASTER
Cortex-M4F ×2  (単精度 FPU)</a:t>
            </a:r>
          </a:p>
        </p:txBody>
      </p:sp>
      <p:sp>
        <p:nvSpPr>
          <p:cNvPr id="9" name="Rectangle 8"/>
          <p:cNvSpPr/>
          <p:nvPr/>
        </p:nvSpPr>
        <p:spPr>
          <a:xfrm>
            <a:off x="6995159" y="1133856"/>
            <a:ext cx="4224528" cy="1609344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995159" y="1207008"/>
            <a:ext cx="4224528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20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左バッズ   rank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5159" y="1664208"/>
            <a:ext cx="4224528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BES2300YP  /  nv_role = SLAVE
Cortex-M4F ×2  (単精度 FPU)</a:t>
            </a:r>
          </a:p>
        </p:txBody>
      </p:sp>
      <p:sp>
        <p:nvSpPr>
          <p:cNvPr id="12" name="Left-Right Arrow 11"/>
          <p:cNvSpPr/>
          <p:nvPr/>
        </p:nvSpPr>
        <p:spPr>
          <a:xfrm>
            <a:off x="5376672" y="1664208"/>
            <a:ext cx="1426464" cy="566928"/>
          </a:xfrm>
          <a:prstGeom prst="leftRightArrow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IBRT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30368" y="2286000"/>
            <a:ext cx="1719072" cy="512064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2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左右間の
TWS 制御チャネル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834640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2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※ rank は左右で固定。IBRT のロール (master / slave) は起動ごとに入れ替わる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3163824"/>
            <a:ext cx="10259568" cy="512064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60120" y="3163824"/>
            <a:ext cx="10259568" cy="51206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Bluetooth SPP (自作ログチャネル)  =  Bluetooth 上のシリアルポート。UART とは独立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5888736" y="3749039"/>
            <a:ext cx="402336" cy="329184"/>
          </a:xfrm>
          <a:prstGeom prst="downArrow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3931920" y="4169663"/>
            <a:ext cx="4315968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931920" y="4224528"/>
            <a:ext cx="4315968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Windows PC   (COM6)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4572000"/>
            <a:ext cx="4315968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 i="0">
                <a:solidFill>
                  <a:srgbClr val="4A4A4A"/>
                </a:solidFill>
                <a:latin typeface="Consolas"/>
                <a:ea typeface="Consolas"/>
                <a:cs typeface="Consolas"/>
              </a:rPr>
              <a:t>#23 GEMM-MPI ... PASS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230368"/>
            <a:ext cx="3594506" cy="100584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02920" y="5230368"/>
            <a:ext cx="3594506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02920" y="5230368"/>
            <a:ext cx="3594506" cy="438912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4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ノード間 = MPI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669279"/>
            <a:ext cx="3594506" cy="566928"/>
          </a:xfrm>
          <a:prstGeom prst="rect">
            <a:avLst/>
          </a:prstGeom>
          <a:noFill/>
        </p:spPr>
        <p:txBody>
          <a:bodyPr wrap="square" lIns="128016" rIns="128016" tIns="76809" bIns="76809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自作 MPI を IBRT に載せた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8594" y="5230368"/>
            <a:ext cx="3594506" cy="100584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4298594" y="5230368"/>
            <a:ext cx="3594506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298594" y="5230368"/>
            <a:ext cx="3594506" cy="438912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4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ノード内 = OpenMP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8594" y="5669279"/>
            <a:ext cx="3594506" cy="566928"/>
          </a:xfrm>
          <a:prstGeom prst="rect">
            <a:avLst/>
          </a:prstGeom>
          <a:noFill/>
        </p:spPr>
        <p:txBody>
          <a:bodyPr wrap="square" lIns="128016" rIns="128016" tIns="76809" bIns="76809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逐次スタブ。2 コア目は未使用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94268" y="5230368"/>
            <a:ext cx="3594506" cy="100584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8094268" y="5230368"/>
            <a:ext cx="3594506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094268" y="5230368"/>
            <a:ext cx="3594506" cy="438912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4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観測 = SPP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94268" y="5669279"/>
            <a:ext cx="3594506" cy="566928"/>
          </a:xfrm>
          <a:prstGeom prst="rect">
            <a:avLst/>
          </a:prstGeom>
          <a:noFill/>
        </p:spPr>
        <p:txBody>
          <a:bodyPr wrap="square" lIns="128016" rIns="128016" tIns="76809" bIns="76809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seq 番号で欠落・重複を検出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935705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実験機材: PineBuds Pro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1089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3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4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5566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11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52144"/>
          <a:ext cx="6720840" cy="3200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234440"/>
                <a:gridCol w="54864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項目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値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SoC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Bestechnic BES2300YP (左右に 1 個ずつ、独立)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CPU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Dual-core Cortex-M4F @ 最大 300 MHz / 単精度 FPU のみ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メモリ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SRAM 992 KB / Flash 4 MB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ファーム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OpenPineBuds — アプリ層は OSS (BT 中核は .a)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デバッグ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充電ケースが USB → デュアル UART (2 Mbaud)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位置づけ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実売 1 万円前後、普通に音楽が聴ける TWS イヤホン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498079" y="1152144"/>
            <a:ext cx="4187952" cy="2011680"/>
          </a:xfrm>
          <a:prstGeom prst="rect">
            <a:avLst/>
          </a:prstGeom>
          <a:solidFill>
            <a:srgbClr val="F4F4F4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8079" y="1152144"/>
            <a:ext cx="4187952" cy="2011680"/>
          </a:xfrm>
          <a:prstGeom prst="rect">
            <a:avLst/>
          </a:prstGeom>
          <a:noFill/>
        </p:spPr>
        <p:txBody>
          <a:bodyPr wrap="square" tIns="54864" bIns="54864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[  PineBuds Pro の写真をここに  ]
slides/assets/pinebuds.jpg を置いて
scripts/make_lt_pptx.py を再実行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3310128"/>
            <a:ext cx="4187952" cy="173736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498079" y="3310128"/>
            <a:ext cx="4187952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498079" y="3310128"/>
            <a:ext cx="4187952" cy="438912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つまり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3749039"/>
            <a:ext cx="4187952" cy="1298448"/>
          </a:xfrm>
          <a:prstGeom prst="rect">
            <a:avLst/>
          </a:prstGeom>
          <a:noFill/>
        </p:spPr>
        <p:txBody>
          <a:bodyPr wrap="square" lIns="128016" rIns="128016" tIns="76809" bIns="76809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ケースに USB-C を挿すと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/dev/ttyACM0 (右) と ttyACM1 (左)</a:t>
            </a:r>
          </a:p>
          <a:p>
            <a:pPr algn="l">
              <a:spcAft>
                <a:spcPts val="1000"/>
              </a:spcAft>
            </a:pPr>
            <a:r>
              <a:rPr sz="14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が生えて、自作ファームが焼ける。</a:t>
            </a:r>
          </a:p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イヤホンなのに開発ボード。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754880"/>
            <a:ext cx="6720840" cy="141732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02920" y="4754880"/>
            <a:ext cx="6720840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02920" y="4754880"/>
            <a:ext cx="6720840" cy="438912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なぜ計算機として使えるのか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193792"/>
            <a:ext cx="6720840" cy="978408"/>
          </a:xfrm>
          <a:prstGeom prst="rect">
            <a:avLst/>
          </a:prstGeom>
          <a:noFill/>
        </p:spPr>
        <p:txBody>
          <a:bodyPr wrap="square" lIns="128016" rIns="128016" tIns="76809" bIns="76809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単コア GEMM が 5 〜 10 ms で回る計算資源が、耳の中に 2 個ある</a:t>
            </a:r>
          </a:p>
          <a:p>
            <a:pPr algn="l">
              <a:spcAft>
                <a:spcPts val="0"/>
              </a:spcAft>
            </a:pPr>
            <a:r>
              <a:rPr sz="14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RAM は約 330 KB 空き (2026-08-30 ビルドの .map 集計)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935705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なぜ「普通のワイヤレスイヤホン」ではダメだったのか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1089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3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5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5566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11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11185855" cy="54864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2920" y="1115568"/>
            <a:ext cx="11185855" cy="548640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当初は手持ちの TWS でやりたかった。 →  自作コードを載せる手段が見つからなかった。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792224"/>
          <a:ext cx="11185853" cy="2743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5134490"/>
                <a:gridCol w="2842307"/>
                <a:gridCol w="3209056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自作コードをイヤホンで動かすのに必要なもの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調べた範囲の市販 TWS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PineBuds Pro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① ファームウェアのソース / SDK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A32B22"/>
                          </a:solidFill>
                          <a:latin typeface="Meiryo"/>
                          <a:ea typeface="Meiryo"/>
                          <a:cs typeface="Meiryo"/>
                        </a:rPr>
                        <a:t>✗  非公開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1E6B3A"/>
                          </a:solidFill>
                          <a:latin typeface="Meiryo"/>
                          <a:ea typeface="Meiryo"/>
                          <a:cs typeface="Meiryo"/>
                        </a:rPr>
                        <a:t>✓  OSS (OpenPineBuds)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② 署名されていない FW を焼ける経路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A32B22"/>
                          </a:solidFill>
                          <a:latin typeface="Meiryo"/>
                          <a:ea typeface="Meiryo"/>
                          <a:cs typeface="Meiryo"/>
                        </a:rPr>
                        <a:t>✗  手段が非公開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1E6B3A"/>
                          </a:solidFill>
                          <a:latin typeface="Meiryo"/>
                          <a:ea typeface="Meiryo"/>
                          <a:cs typeface="Meiryo"/>
                        </a:rPr>
                        <a:t>✓  bestool で焼ける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③ デバッグ UART が外に出ている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A32B22"/>
                          </a:solidFill>
                          <a:latin typeface="Meiryo"/>
                          <a:ea typeface="Meiryo"/>
                          <a:cs typeface="Meiryo"/>
                        </a:rPr>
                        <a:t>✗  出ていない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1E6B3A"/>
                          </a:solidFill>
                          <a:latin typeface="Meiryo"/>
                          <a:ea typeface="Meiryo"/>
                          <a:cs typeface="Meiryo"/>
                        </a:rPr>
                        <a:t>✓  充電ケースが兼ねる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④ 左右間リンクを叩ける API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A32B22"/>
                          </a:solidFill>
                          <a:latin typeface="Meiryo"/>
                          <a:ea typeface="Meiryo"/>
                          <a:cs typeface="Meiryo"/>
                        </a:rPr>
                        <a:t>✗  非公開の独自 TWS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1E6B3A"/>
                          </a:solidFill>
                          <a:latin typeface="Meiryo"/>
                          <a:ea typeface="Meiryo"/>
                          <a:cs typeface="Meiryo"/>
                        </a:rPr>
                        <a:t>✓  ヘッダで見える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⑤ 文鎮化したときの復旧手段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A32B22"/>
                          </a:solidFill>
                          <a:latin typeface="Meiryo"/>
                          <a:ea typeface="Meiryo"/>
                          <a:cs typeface="Meiryo"/>
                        </a:rPr>
                        <a:t>✗  見つからなかった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1E6B3A"/>
                          </a:solidFill>
                          <a:latin typeface="Meiryo"/>
                          <a:ea typeface="Meiryo"/>
                          <a:cs typeface="Meiryo"/>
                        </a:rPr>
                        <a:t>✓  工場 FW + 純正ライタ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4846320"/>
            <a:ext cx="11185855" cy="731520"/>
          </a:xfrm>
          <a:prstGeom prst="rect">
            <a:avLst/>
          </a:prstGeom>
          <a:noFill/>
        </p:spPr>
        <p:txBody>
          <a:bodyPr wrap="square" lIns="64008" rIns="64008" tIns="38404" bIns="38404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・ ① 〜 ③ のどれか 1 つでも欠けると、コードを書いても載せられない = 実験が成立しない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・ これは手元の機種と調べられた範囲の話で、すべての TWS がそうだと主張するものではない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669280"/>
            <a:ext cx="11185855" cy="603504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02920" y="5669280"/>
            <a:ext cx="11185855" cy="603504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→  この 5 つが揃う TWS が、探した範囲でここだけだったので購入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935705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やったこと — 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1089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3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6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5566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11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11185855" cy="768096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30936" y="1170432"/>
            <a:ext cx="10929823" cy="347472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bench/gemm_mpi_omp.cpp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1499616"/>
            <a:ext cx="10929823" cy="347472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標準 MPI + OpenMP API で書いた GEMM。実機用に 1 行も書き換えない ← これが要件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956816"/>
            <a:ext cx="11185855" cy="768096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30936" y="2011680"/>
            <a:ext cx="10929823" cy="347472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adapters/mpi/  +  adapters/omp/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" y="2340864"/>
            <a:ext cx="10929823" cy="347472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自作 MPI サブセット (Send / Recv / Barrier / Allreduce / Isend / Wait) と OpenMP スタブ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798064"/>
            <a:ext cx="11185855" cy="768096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0936" y="2852928"/>
            <a:ext cx="10929823" cy="347472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transport seam (関数ポインタ 1 枚)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" y="3182112"/>
            <a:ext cx="10929823" cy="347472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ホスト = pthread ループバック (TDD 用) / 実機 = 断片化 + クレジット制御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639312"/>
            <a:ext cx="11185855" cy="768096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0936" y="3694176"/>
            <a:ext cx="10929823" cy="347472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firmware/pinebuds_compute/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023360"/>
            <a:ext cx="10929823" cy="347472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IBRT glue / SPP ログチャネル / 5 連タップ起動の調停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480560"/>
            <a:ext cx="11185855" cy="768096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30936" y="4535424"/>
            <a:ext cx="10929823" cy="347472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OpenPineBuds SDK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" y="4864608"/>
            <a:ext cx="10929823" cy="347472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IBRT (TWS 制御) · BESAUD · RTX (CMSIS-RTOS v1)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394960"/>
            <a:ext cx="11185855" cy="91440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02920" y="5394960"/>
            <a:ext cx="11185855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02920" y="5394960"/>
            <a:ext cx="11185855" cy="438912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SDK に合わせるしかない制約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833872"/>
            <a:ext cx="11185855" cy="475488"/>
          </a:xfrm>
          <a:prstGeom prst="rect">
            <a:avLst/>
          </a:prstGeom>
          <a:noFill/>
        </p:spPr>
        <p:txBody>
          <a:bodyPr wrap="square" lIns="128016" rIns="128016" tIns="76809" bIns="76809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gnu++98 / 例外・RTTI 禁止   ・ ヒープ禁止・STL 禁止・静的バッファのみ   ・ double 禁止 (単精度 FPU)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935705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開発環境 — 1 回の実験に必要なもの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1089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3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7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5566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11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33856"/>
            <a:ext cx="2659303" cy="1847088"/>
          </a:xfrm>
          <a:prstGeom prst="rect">
            <a:avLst/>
          </a:prstGeom>
          <a:solidFill>
            <a:srgbClr val="E9F1F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02920" y="1133856"/>
            <a:ext cx="2659303" cy="548640"/>
          </a:xfrm>
          <a:prstGeom prst="rect">
            <a:avLst/>
          </a:prstGeom>
          <a:solidFill>
            <a:srgbClr val="D6E6F3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4360" y="1188720"/>
            <a:ext cx="47548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" y="1133856"/>
            <a:ext cx="196435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WSL2  Ubuntu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" y="1755648"/>
            <a:ext cx="2512999" cy="11704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コードを書くのは全部ここ</a:t>
            </a:r>
          </a:p>
          <a:p>
            <a:pPr algn="l">
              <a:spcAft>
                <a:spcPts val="900"/>
              </a:spcAft>
            </a:pPr>
            <a:r>
              <a:rPr sz="12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make test → 1,788 checks</a:t>
            </a:r>
          </a:p>
          <a:p>
            <a:pPr algn="l">
              <a:spcAft>
                <a:spcPts val="9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install-into-sdk.sh で SDK 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45103" y="1133856"/>
            <a:ext cx="2659303" cy="1847088"/>
          </a:xfrm>
          <a:prstGeom prst="rect">
            <a:avLst/>
          </a:prstGeom>
          <a:solidFill>
            <a:srgbClr val="E4F2F3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345103" y="1133856"/>
            <a:ext cx="2659303" cy="548640"/>
          </a:xfrm>
          <a:prstGeom prst="rect">
            <a:avLst/>
          </a:prstGeom>
          <a:solidFill>
            <a:srgbClr val="CFE8EA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436543" y="1188720"/>
            <a:ext cx="47548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48607" y="1133856"/>
            <a:ext cx="196435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Docker  SDK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8255" y="1755648"/>
            <a:ext cx="2512999" cy="11704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./start_dev.sh でコンテナ</a:t>
            </a:r>
          </a:p>
          <a:p>
            <a:pPr algn="l">
              <a:spcAft>
                <a:spcPts val="900"/>
              </a:spcAft>
            </a:pPr>
            <a:r>
              <a:rPr sz="12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./build.sh → open_source.bin</a:t>
            </a:r>
          </a:p>
          <a:p>
            <a:pPr algn="l">
              <a:spcAft>
                <a:spcPts val="9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backup.sh で工場 FW を退避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7287" y="1133856"/>
            <a:ext cx="2659303" cy="1847088"/>
          </a:xfrm>
          <a:prstGeom prst="rect">
            <a:avLst/>
          </a:prstGeom>
          <a:solidFill>
            <a:srgbClr val="EEEBF7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6187287" y="1133856"/>
            <a:ext cx="2659303" cy="548640"/>
          </a:xfrm>
          <a:prstGeom prst="rect">
            <a:avLst/>
          </a:prstGeom>
          <a:solidFill>
            <a:srgbClr val="E1DCF1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278727" y="1188720"/>
            <a:ext cx="47548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90791" y="1133856"/>
            <a:ext cx="196435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Windows 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0439" y="1755648"/>
            <a:ext cx="2512999" cy="11704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usbipd でケースを WSL へ</a:t>
            </a:r>
          </a:p>
          <a:p>
            <a:pPr algn="l">
              <a:spcAft>
                <a:spcPts val="9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→ /dev/ttyACM0 と ttyACM1</a:t>
            </a:r>
          </a:p>
          <a:p>
            <a:pPr algn="l">
              <a:spcAft>
                <a:spcPts val="9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spp_tail.py COM6 で SPP 受信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29471" y="1133856"/>
            <a:ext cx="2659303" cy="1847088"/>
          </a:xfrm>
          <a:prstGeom prst="rect">
            <a:avLst/>
          </a:prstGeom>
          <a:solidFill>
            <a:srgbClr val="F8F2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9029471" y="1133856"/>
            <a:ext cx="2659303" cy="548640"/>
          </a:xfrm>
          <a:prstGeom prst="rect">
            <a:avLst/>
          </a:prstGeom>
          <a:solidFill>
            <a:srgbClr val="F2E6C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120911" y="1188720"/>
            <a:ext cx="47548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32975" y="1133856"/>
            <a:ext cx="196435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PineBuds Pro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02623" y="1755648"/>
            <a:ext cx="2512999" cy="11704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bestool write-image を左右に</a:t>
            </a:r>
          </a:p>
          <a:p>
            <a:pPr algn="l">
              <a:spcAft>
                <a:spcPts val="9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出して 3 秒待って戻す = リブート</a:t>
            </a:r>
          </a:p>
          <a:p>
            <a:pPr algn="l">
              <a:spcAft>
                <a:spcPts val="9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picocom -b 2000000 で観測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108960"/>
            <a:ext cx="11185855" cy="1682496"/>
          </a:xfrm>
          <a:prstGeom prst="rect">
            <a:avLst/>
          </a:prstGeom>
          <a:solidFill>
            <a:srgbClr val="F3EFF9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02920" y="3108960"/>
            <a:ext cx="11185855" cy="438912"/>
          </a:xfrm>
          <a:prstGeom prst="rect">
            <a:avLst/>
          </a:prstGeom>
          <a:solidFill>
            <a:srgbClr val="E3DCF2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94360" y="3127248"/>
            <a:ext cx="457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9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" y="3108960"/>
            <a:ext cx="7315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Claude Code — 4 つの世界を横断して回す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3602736"/>
            <a:ext cx="348477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設計・SDK 調査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3822191"/>
            <a:ext cx="330189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プリビルト .a の逆アセンブルと nm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53458" y="3602736"/>
            <a:ext cx="348477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TDD の運用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36338" y="3822191"/>
            <a:ext cx="330189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Red は本体、Green はサブエージェント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21116" y="3602736"/>
            <a:ext cx="348477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実機ランの監視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03996" y="3822191"/>
            <a:ext cx="330189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UART / SPP を監視して docs に反映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4133087"/>
            <a:ext cx="348477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85800" y="4151376"/>
            <a:ext cx="3484778" cy="310896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14 時間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4443984"/>
            <a:ext cx="3484778" cy="237744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0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実作業時間 (ログのイベント間隔から集計)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53458" y="4133087"/>
            <a:ext cx="348477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4353458" y="4151376"/>
            <a:ext cx="3484778" cy="310896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$480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53458" y="4443984"/>
            <a:ext cx="3484778" cy="237744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0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API 料金換算。83% がプロンプトキャッシュ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21116" y="4133087"/>
            <a:ext cx="348477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8021116" y="4151376"/>
            <a:ext cx="3484778" cy="310896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103 コミット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21116" y="4443984"/>
            <a:ext cx="3484778" cy="237744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0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うち 102 が Co-Authored-By: Claude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4937760"/>
            <a:ext cx="11185855" cy="1060704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502920" y="4937760"/>
            <a:ext cx="11185855" cy="384048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502920" y="4937760"/>
            <a:ext cx="11185855" cy="384048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4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1 サイクル — 4 つの世界を 1 周しないと 1 回も試せない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77240" y="5394960"/>
            <a:ext cx="1559509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777240" y="5394960"/>
            <a:ext cx="1559509" cy="493776"/>
          </a:xfrm>
          <a:prstGeom prst="rect">
            <a:avLst/>
          </a:prstGeom>
          <a:noFill/>
        </p:spPr>
        <p:txBody>
          <a:bodyPr wrap="square" lIns="18288" rIns="18288" tIns="10972" bIns="10972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① 書く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2345893" y="5504688"/>
            <a:ext cx="237744" cy="274320"/>
          </a:xfrm>
          <a:prstGeom prst="rightArrow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2592781" y="5394960"/>
            <a:ext cx="1559509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2592781" y="5394960"/>
            <a:ext cx="1559509" cy="493776"/>
          </a:xfrm>
          <a:prstGeom prst="rect">
            <a:avLst/>
          </a:prstGeom>
          <a:noFill/>
        </p:spPr>
        <p:txBody>
          <a:bodyPr wrap="square" lIns="18288" rIns="18288" tIns="10972" bIns="10972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② ホストで緑</a:t>
            </a:r>
          </a:p>
        </p:txBody>
      </p:sp>
      <p:sp>
        <p:nvSpPr>
          <p:cNvPr id="53" name="Right Arrow 52"/>
          <p:cNvSpPr/>
          <p:nvPr/>
        </p:nvSpPr>
        <p:spPr>
          <a:xfrm>
            <a:off x="4161434" y="5504688"/>
            <a:ext cx="237744" cy="274320"/>
          </a:xfrm>
          <a:prstGeom prst="rightArrow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ectangle 53"/>
          <p:cNvSpPr/>
          <p:nvPr/>
        </p:nvSpPr>
        <p:spPr>
          <a:xfrm>
            <a:off x="4408322" y="5394960"/>
            <a:ext cx="1559509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4408322" y="5394960"/>
            <a:ext cx="1559509" cy="493776"/>
          </a:xfrm>
          <a:prstGeom prst="rect">
            <a:avLst/>
          </a:prstGeom>
          <a:noFill/>
        </p:spPr>
        <p:txBody>
          <a:bodyPr wrap="square" lIns="18288" rIns="18288" tIns="10972" bIns="10972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③ SDK に配置</a:t>
            </a:r>
          </a:p>
        </p:txBody>
      </p:sp>
      <p:sp>
        <p:nvSpPr>
          <p:cNvPr id="56" name="Right Arrow 55"/>
          <p:cNvSpPr/>
          <p:nvPr/>
        </p:nvSpPr>
        <p:spPr>
          <a:xfrm>
            <a:off x="5976975" y="5504688"/>
            <a:ext cx="237744" cy="274320"/>
          </a:xfrm>
          <a:prstGeom prst="rightArrow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ectangle 56"/>
          <p:cNvSpPr/>
          <p:nvPr/>
        </p:nvSpPr>
        <p:spPr>
          <a:xfrm>
            <a:off x="6223863" y="5394960"/>
            <a:ext cx="1559509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6223863" y="5394960"/>
            <a:ext cx="1559509" cy="493776"/>
          </a:xfrm>
          <a:prstGeom prst="rect">
            <a:avLst/>
          </a:prstGeom>
          <a:noFill/>
        </p:spPr>
        <p:txBody>
          <a:bodyPr wrap="square" lIns="18288" rIns="18288" tIns="10972" bIns="10972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④ ビルド</a:t>
            </a:r>
          </a:p>
        </p:txBody>
      </p:sp>
      <p:sp>
        <p:nvSpPr>
          <p:cNvPr id="59" name="Right Arrow 58"/>
          <p:cNvSpPr/>
          <p:nvPr/>
        </p:nvSpPr>
        <p:spPr>
          <a:xfrm>
            <a:off x="7792516" y="5504688"/>
            <a:ext cx="237744" cy="274320"/>
          </a:xfrm>
          <a:prstGeom prst="rightArrow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ectangle 59"/>
          <p:cNvSpPr/>
          <p:nvPr/>
        </p:nvSpPr>
        <p:spPr>
          <a:xfrm>
            <a:off x="8039404" y="5394960"/>
            <a:ext cx="1559509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8039404" y="5394960"/>
            <a:ext cx="1559509" cy="493776"/>
          </a:xfrm>
          <a:prstGeom prst="rect">
            <a:avLst/>
          </a:prstGeom>
          <a:noFill/>
        </p:spPr>
        <p:txBody>
          <a:bodyPr wrap="square" lIns="18288" rIns="18288" tIns="10972" bIns="10972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⑤ 焼く</a:t>
            </a:r>
          </a:p>
        </p:txBody>
      </p:sp>
      <p:sp>
        <p:nvSpPr>
          <p:cNvPr id="62" name="Right Arrow 61"/>
          <p:cNvSpPr/>
          <p:nvPr/>
        </p:nvSpPr>
        <p:spPr>
          <a:xfrm>
            <a:off x="9608058" y="5504688"/>
            <a:ext cx="237744" cy="274320"/>
          </a:xfrm>
          <a:prstGeom prst="rightArrow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Rectangle 62"/>
          <p:cNvSpPr/>
          <p:nvPr/>
        </p:nvSpPr>
        <p:spPr>
          <a:xfrm>
            <a:off x="9854946" y="5394960"/>
            <a:ext cx="1559509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9854946" y="5394960"/>
            <a:ext cx="1559509" cy="493776"/>
          </a:xfrm>
          <a:prstGeom prst="rect">
            <a:avLst/>
          </a:prstGeom>
          <a:noFill/>
        </p:spPr>
        <p:txBody>
          <a:bodyPr wrap="square" lIns="18288" rIns="18288" tIns="10972" bIns="10972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⑥ 耳で観る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2920" y="6089904"/>
            <a:ext cx="1118585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WSL の中の Docker の中の GCC でビルドして、Windows の Python で結果を受ける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935705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実装の山場 ① — SDK にソースが無い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1089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3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8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5566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11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8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11185855" cy="603504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2920" y="1115568"/>
            <a:ext cx="11185855" cy="603504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6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問題: 左右リンクの本体は inc/ と lib/ しか無い = プリビルトの .a しか無い → 仕様が読めない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28800"/>
            <a:ext cx="11185855" cy="548640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02920" y="1828800"/>
            <a:ext cx="11185855" cy="548640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6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やったこと: 静的ライブラリを逆アセンブルして、仕様を実物から確定した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2505456"/>
          <a:ext cx="11185853" cy="142646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933994"/>
                <a:gridCol w="2933994"/>
                <a:gridCol w="5317865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調べたこと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ヘッダの記述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逆アセンブルした実体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送信ペイロード上限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300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実行時 assert は 672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RX ハンドラのスレッド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記述なし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BT スタック本体のループ (止めると全部止まる)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02920" y="4169663"/>
            <a:ext cx="3545738" cy="100584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02920" y="4224528"/>
            <a:ext cx="3545738" cy="566928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3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300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791456"/>
            <a:ext cx="3545738" cy="310896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3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ヘッダの定数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2978" y="4169663"/>
            <a:ext cx="3545738" cy="100584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322978" y="4224528"/>
            <a:ext cx="3545738" cy="566928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3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672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2978" y="4791456"/>
            <a:ext cx="3545738" cy="310896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3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バイナリの assert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43036" y="4169663"/>
            <a:ext cx="3545738" cy="1005840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143036" y="4224528"/>
            <a:ext cx="3545738" cy="566928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3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512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43036" y="4791456"/>
            <a:ext cx="3545738" cy="310896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3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実測値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321808"/>
            <a:ext cx="1118585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起動時に 4 → 64 → … → 668 B を掃引して上限を実測。256 B 超はフレームに分割し、in-flight を 536 B に抑える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797296"/>
            <a:ext cx="11185855" cy="512064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02920" y="5797296"/>
            <a:ext cx="11185855" cy="512064"/>
          </a:xfrm>
          <a:prstGeom prst="rect">
            <a:avLst/>
          </a:prstGeom>
          <a:noFill/>
        </p:spPr>
        <p:txBody>
          <a:bodyPr wrap="square" tIns="54864" bIns="54864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ヘッダを信じるな。リンクされるバイナリを信じろ。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935705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実装の山場 ② — 実機は 1 発では動かない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1089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3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9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5566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11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15568"/>
          <a:ext cx="7040878" cy="340156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409353"/>
                <a:gridCol w="3029215"/>
                <a:gridCol w="360231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#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症状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原因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finalize の 2 秒後に MemFault で無限リブート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RTX でスレッドが自分自身を終了させると壊れる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充電起動すると BT スタックが上がらない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充電イベントのリセット設定の副作用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起動 15 〜 60 秒で勝手に電源が落ちる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満充電シャットダウン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PC と再ペアリングできない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通常ビルドは inquiry scan を出さない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SPP ログの先頭 512 B だけ二重に届く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1 回の接続で CONNECTED が 2 回上がる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0" y="1115568"/>
            <a:ext cx="3913632" cy="2377440"/>
          </a:xfrm>
          <a:prstGeom prst="rect">
            <a:avLst/>
          </a:prstGeom>
          <a:solidFill>
            <a:srgbClr val="F0F0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772400" y="1170432"/>
            <a:ext cx="3913632" cy="347472"/>
          </a:xfrm>
          <a:prstGeom prst="rect">
            <a:avLst/>
          </a:prstGeom>
          <a:noFill/>
        </p:spPr>
        <p:txBody>
          <a:bodyPr wrap="square" lIns="128016" rIns="128016" tIns="76809" bIns="76809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Run 2 : 毎ブート・17.5 秒周期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499616"/>
            <a:ext cx="3913632" cy="1993392"/>
          </a:xfrm>
          <a:prstGeom prst="rect">
            <a:avLst/>
          </a:prstGeom>
          <a:noFill/>
        </p:spPr>
        <p:txBody>
          <a:bodyPr wrap="square" lIns="128016" rIns="128016" tIns="76809" bIns="76809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### EXCEPTION ###</a:t>
            </a:r>
          </a:p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MMFAR=00000034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FaultCause: (Data access violation)</a:t>
            </a:r>
          </a:p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Current Task    : 0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New Running Task: 255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639312"/>
            <a:ext cx="3913632" cy="146304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7772400" y="3639312"/>
            <a:ext cx="3913632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772400" y="3639312"/>
            <a:ext cx="3913632" cy="438912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MMFAR が犯人を名指しした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4078224"/>
            <a:ext cx="3913632" cy="1024128"/>
          </a:xfrm>
          <a:prstGeom prst="rect">
            <a:avLst/>
          </a:prstGeom>
          <a:noFill/>
        </p:spPr>
        <p:txBody>
          <a:bodyPr wrap="square" lIns="128016" rIns="128016" tIns="76809" bIns="76809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0x34 = RTOS のスレッド構造体の</a:t>
            </a:r>
          </a:p>
          <a:p>
            <a:pPr algn="l">
              <a:spcAft>
                <a:spcPts val="9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フィールドのオフセットと一致。</a:t>
            </a:r>
          </a:p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終了済みスレッドを触っていた。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5193792"/>
            <a:ext cx="7040880" cy="603504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02920" y="5193792"/>
            <a:ext cx="7040880" cy="603504"/>
          </a:xfrm>
          <a:prstGeom prst="rect">
            <a:avLst/>
          </a:prstGeom>
          <a:noFill/>
        </p:spPr>
        <p:txBody>
          <a:bodyPr wrap="square" tIns="54864" bIns="54864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計算に起因する地雷はゼロ。全部が電源・接続・RTOS。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5266944"/>
            <a:ext cx="3913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純ロジックは全部ホストのテストを先に書いた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935705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実装の山場 ③ — 観測をワイヤレスに / 耳で操作する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1089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3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10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5566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11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11185855" cy="493776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2920" y="1115568"/>
            <a:ext cx="11185855" cy="493776"/>
          </a:xfrm>
          <a:prstGeom prst="rect">
            <a:avLst/>
          </a:prstGeom>
          <a:noFill/>
        </p:spPr>
        <p:txBody>
          <a:bodyPr wrap="square" tIns="54864" bIns="54864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USB ケーブルで繋がったイヤホンは、もはやイヤホンではない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73936"/>
            <a:ext cx="5532120" cy="210312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02920" y="1773936"/>
            <a:ext cx="5532120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02920" y="1773936"/>
            <a:ext cx="5532120" cy="438912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① Bluetooth SPP に自作ログチャネル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212848"/>
            <a:ext cx="5532120" cy="1664207"/>
          </a:xfrm>
          <a:prstGeom prst="rect">
            <a:avLst/>
          </a:prstGeom>
          <a:noFill/>
        </p:spPr>
        <p:txBody>
          <a:bodyPr wrap="square" lIns="128016" rIns="128016" tIns="76809" bIns="76809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ログをリングバッファに積み、Bluetooth の</a:t>
            </a:r>
          </a:p>
          <a:p>
            <a:pPr algn="l">
              <a:spcAft>
                <a:spcPts val="900"/>
              </a:spcAft>
            </a:pPr>
            <a:r>
              <a:rPr sz="14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   シリアルポート (SPP) で PC に流す</a:t>
            </a:r>
          </a:p>
          <a:p>
            <a:pPr algn="l">
              <a:spcAft>
                <a:spcPts val="900"/>
              </a:spcAft>
            </a:pPr>
            <a:r>
              <a:rPr sz="14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seq 番号で欠落・重複を機械検出</a:t>
            </a:r>
          </a:p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UART とは独立の経路 = 原理的に USB は不要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9632" y="1773936"/>
            <a:ext cx="5486400" cy="210312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199632" y="1773936"/>
            <a:ext cx="5486400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199632" y="1773936"/>
            <a:ext cx="5486400" cy="438912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② 5 連タップで GEMM を再実行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9632" y="2212848"/>
            <a:ext cx="5486400" cy="1664207"/>
          </a:xfrm>
          <a:prstGeom prst="rect">
            <a:avLst/>
          </a:prstGeom>
          <a:noFill/>
        </p:spPr>
        <p:txBody>
          <a:bodyPr wrap="square" lIns="128016" rIns="128016" tIns="76809" bIns="76809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タッチパッドは電源キー入力。ジェスチャは</a:t>
            </a:r>
          </a:p>
          <a:p>
            <a:pPr algn="l">
              <a:spcAft>
                <a:spcPts val="900"/>
              </a:spcAft>
            </a:pPr>
            <a:r>
              <a:rPr sz="14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   SDK がソフトで判定している</a:t>
            </a:r>
          </a:p>
          <a:p>
            <a:pPr algn="l">
              <a:spcAft>
                <a:spcPts val="900"/>
              </a:spcAft>
            </a:pPr>
            <a:r>
              <a:rPr sz="14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単タップ 〜 4 連・長押しは既存機能で満杯</a:t>
            </a:r>
          </a:p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空いていた 5 連タップを奪った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133087"/>
            <a:ext cx="2487168" cy="1426464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02920" y="4224527"/>
            <a:ext cx="2487168" cy="365760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① 5 連タップ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626864"/>
            <a:ext cx="2487168" cy="859536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叩かれた側だけが
キーイベントを受け取る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3044952" y="4681727"/>
            <a:ext cx="302666" cy="347472"/>
          </a:xfrm>
          <a:prstGeom prst="rightArrow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402482" y="4133087"/>
            <a:ext cx="2487168" cy="1426464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402482" y="4224527"/>
            <a:ext cx="2487168" cy="365760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② 相手に START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02482" y="4626864"/>
            <a:ext cx="2487168" cy="859536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左右間の制御チャネルに
5 バイトを 1 本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5944514" y="4681727"/>
            <a:ext cx="302666" cy="347472"/>
          </a:xfrm>
          <a:prstGeom prst="rightArrow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6302044" y="4133087"/>
            <a:ext cx="2487168" cy="1426464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302044" y="4224527"/>
            <a:ext cx="2487168" cy="365760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③ 相手も起きる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2044" y="4626864"/>
            <a:ext cx="2487168" cy="859536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待機セマフォを解放して
計算に入る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844076" y="4681727"/>
            <a:ext cx="302666" cy="347472"/>
          </a:xfrm>
          <a:prstGeom prst="rightArrow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9201607" y="4133087"/>
            <a:ext cx="2487168" cy="1426464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201607" y="4224527"/>
            <a:ext cx="2487168" cy="365760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④ 両バッズで GEMM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01607" y="4626864"/>
            <a:ext cx="2487168" cy="859536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rank 0 が checksum を
検証して PASS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5742432"/>
            <a:ext cx="1118585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3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実行中の連打は捨てる。相手の START が落ちたら、タップした側だけが縮退して完走する。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935705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結果 ① — 実機ログ (両バッズ / 全条件 PASS)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1089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3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11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5566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11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6903720" cy="3840480"/>
          </a:xfrm>
          <a:prstGeom prst="rect">
            <a:avLst/>
          </a:prstGeom>
          <a:solidFill>
            <a:srgbClr val="F0F0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6903720" cy="347472"/>
          </a:xfrm>
          <a:prstGeom prst="rect">
            <a:avLst/>
          </a:prstGeom>
          <a:noFill/>
        </p:spPr>
        <p:txBody>
          <a:bodyPr wrap="square" lIns="128016" rIns="128016" tIns="76809" bIns="76809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Run 4 — ケース内・充電起動・両バッズ同時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99616"/>
            <a:ext cx="6903720" cy="3456432"/>
          </a:xfrm>
          <a:prstGeom prst="rect">
            <a:avLst/>
          </a:prstGeom>
          <a:noFill/>
        </p:spPr>
        <p:txBody>
          <a:bodyPr wrap="square" lIns="128016" rIns="128016" tIns="76809" bIns="76809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== 右バッズ (rank 0) ==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init rank=0 size=2 link_wait=200 ms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peer ok rank=0 peer=1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barrier ok</a:t>
            </a:r>
          </a:p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GEMM-MPI N=32 rank=0 size=2</a:t>
            </a:r>
          </a:p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  checksum=32768.000000</a:t>
            </a:r>
          </a:p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  expect  =32768.000000  PASS</a:t>
            </a:r>
          </a:p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GEMM-MPI elapsed=13 ms tx=2 rx=4 err=0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== 左バッズ (rank 1) ==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init rank=1 size=2 link_wait=500 ms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send ok / frames tx=2 rx=2 err=0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finalize done rank=1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7808" y="1115568"/>
            <a:ext cx="4078224" cy="256032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07808" y="1115568"/>
            <a:ext cx="4078224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07808" y="1115568"/>
            <a:ext cx="4078224" cy="438912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5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合否条件 — すべて充足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35824" y="1664208"/>
            <a:ext cx="31089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83296" y="1655064"/>
            <a:ext cx="35295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両側 size=2 — 本当に 2 ノードで走った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35824" y="2157984"/>
            <a:ext cx="31089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83296" y="2148840"/>
            <a:ext cx="35295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checksum=32768.000000 の厳密一致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35824" y="2651760"/>
            <a:ext cx="31089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83296" y="2642616"/>
            <a:ext cx="35295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rank 0 / rank 1 が左右で 1 つずつ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3145536"/>
            <a:ext cx="31089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83296" y="3136392"/>
            <a:ext cx="35295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EXCEPTION 0 回・送信失敗 0 回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07808" y="3840480"/>
            <a:ext cx="4078224" cy="192024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7607808" y="3840480"/>
            <a:ext cx="4078224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607808" y="3840480"/>
            <a:ext cx="4078224" cy="438912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なぜ checksum で判定できるのか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07808" y="4279392"/>
            <a:ext cx="4078224" cy="1481328"/>
          </a:xfrm>
          <a:prstGeom prst="rect">
            <a:avLst/>
          </a:prstGeom>
          <a:noFill/>
        </p:spPr>
        <p:txBody>
          <a:bodyPr wrap="square" lIns="128016" rIns="128016" tIns="76809" bIns="76809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32768 = 32³</a:t>
            </a:r>
          </a:p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全要素 1 の行列積は整数値しか通らない</a:t>
            </a:r>
          </a:p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→ float32 でも丸め誤差がゼロ</a:t>
            </a:r>
          </a:p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→ 厳密一致以外を許さない判定にできる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935705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結果 ② — ワイヤレス受信と 5 連タップ再実行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1089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3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12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5566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11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5989320" cy="2468880"/>
          </a:xfrm>
          <a:prstGeom prst="rect">
            <a:avLst/>
          </a:prstGeom>
          <a:solidFill>
            <a:srgbClr val="F0F0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5989320" cy="347472"/>
          </a:xfrm>
          <a:prstGeom prst="rect">
            <a:avLst/>
          </a:prstGeom>
          <a:noFill/>
        </p:spPr>
        <p:txBody>
          <a:bodyPr wrap="square" lIns="128016" rIns="128016" tIns="76809" bIns="76809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Run 12 : Bluetooth で PC が受けたログ (欠落・重複ゼロ)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99616"/>
            <a:ext cx="5989320" cy="2084832"/>
          </a:xfrm>
          <a:prstGeom prst="rect">
            <a:avLst/>
          </a:prstGeom>
          <a:noFill/>
        </p:spPr>
        <p:txBody>
          <a:bodyPr wrap="square" lIns="128016" rIns="128016" tIns="76809" bIns="76809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#2  GEMM float N=32  checksum=32768.000000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                     expect=32768.000000  PASS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#7  [mpi] peer ok rank=1 peer=0</a:t>
            </a:r>
          </a:p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#19 [mpi-t1] max_payload=512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#20 [mpi] barrier ok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#23 [mpi] finalize done rank=1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0" y="1115568"/>
          <a:ext cx="5010910" cy="252374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791196"/>
                <a:gridCol w="1758214"/>
                <a:gridCol w="1494482"/>
                <a:gridCol w="96701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run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トリガ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結果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elapsed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起動時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自動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PASS  size=2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12 ms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#1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右を 5 連タップ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PASS  size=2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128 ms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#2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左を 5 連タップ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PASS  size=2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5 ms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#3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右を 5 連タップ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PASS  size=2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115 ms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#4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左を 5 連タップ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PASS  size=2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83 ms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502920" y="3749039"/>
            <a:ext cx="5989320" cy="164592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02920" y="3749039"/>
            <a:ext cx="5989320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02920" y="3749039"/>
            <a:ext cx="5989320" cy="438912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elapsed のばらつきの読み方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187952"/>
            <a:ext cx="5989320" cy="1207008"/>
          </a:xfrm>
          <a:prstGeom prst="rect">
            <a:avLst/>
          </a:prstGeom>
          <a:noFill/>
        </p:spPr>
        <p:txBody>
          <a:bodyPr wrap="square" lIns="128016" rIns="128016" tIns="76809" bIns="76809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タップした側が先に走り、相手は START の伝搬を待って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合流する。だからタップした側の elapsed が伸びる。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75120" y="3749039"/>
            <a:ext cx="5010912" cy="164592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675120" y="3749039"/>
            <a:ext cx="5010912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675120" y="3749039"/>
            <a:ext cx="5010912" cy="438912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正直な注記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187952"/>
            <a:ext cx="5010912" cy="1207008"/>
          </a:xfrm>
          <a:prstGeom prst="rect">
            <a:avLst/>
          </a:prstGeom>
          <a:noFill/>
        </p:spPr>
        <p:txBody>
          <a:bodyPr wrap="square" lIns="128016" rIns="128016" tIns="76809" bIns="76809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このランで PC に出たのは左 (rank 1) のログだけ。</a:t>
            </a:r>
          </a:p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slave 側の送信はスタック上は成功扱いなのに電波に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乗らず、rank 0 の行は UART にしか出ない (未解決)。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596128"/>
            <a:ext cx="11185855" cy="566928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02920" y="5596128"/>
            <a:ext cx="11185855" cy="566928"/>
          </a:xfrm>
          <a:prstGeom prst="rect">
            <a:avLst/>
          </a:prstGeom>
          <a:noFill/>
        </p:spPr>
        <p:txBody>
          <a:bodyPr wrap="square" tIns="54864" bIns="54864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耳を 5 回叩くと両バッズで行列積が走り、実行ログが Bluetooth 経由で PC に流れてくる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935705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結果 ③ — 数字で見る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1089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3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13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5566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11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15568"/>
          <a:ext cx="6903720" cy="175564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416302"/>
                <a:gridCol w="1898523"/>
                <a:gridCol w="2588895"/>
              </a:tblGrid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指標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実測値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コメント</a:t>
                      </a:r>
                    </a:p>
                  </a:txBody>
                  <a:tcPr marL="82296" marR="82296" marT="27432" marB="27432" anchor="ctr">
                    <a:solidFill>
                      <a:srgbClr val="E6E6E6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GEMM N=32  単コア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5 〜 10 ms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基準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GEMM N=32  2 ノード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12 〜 13 ms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通信込み。遅くなった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アイドルからの往復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最大 407 ms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ランごとに大きく変動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3127248"/>
            <a:ext cx="6903720" cy="1042415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02920" y="3236976"/>
            <a:ext cx="6903720" cy="47548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21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単コア 5〜10 ms   →   2 ノード 12〜13 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712463"/>
            <a:ext cx="6903720" cy="3291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分散したぶんだけ遅くなった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334256"/>
            <a:ext cx="6903720" cy="1444752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02920" y="4334256"/>
            <a:ext cx="6903720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02920" y="4334256"/>
            <a:ext cx="6903720" cy="438912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407 ms の読み方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773168"/>
            <a:ext cx="6903720" cy="1005840"/>
          </a:xfrm>
          <a:prstGeom prst="rect">
            <a:avLst/>
          </a:prstGeom>
          <a:noFill/>
        </p:spPr>
        <p:txBody>
          <a:bodyPr wrap="square" lIns="128016" rIns="128016" tIns="76809" bIns="76809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407 ms は 100 回連続プローブ中の値で、GEMM 実行中の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レイテンシではない。省電力状態から叩き起こすとここまで伸びる。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07808" y="1115568"/>
            <a:ext cx="4078224" cy="466344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07808" y="1115568"/>
            <a:ext cx="4078224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07808" y="1115568"/>
            <a:ext cx="4078224" cy="438912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5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なぜ遅いのか = この実験の本題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90688" y="1700784"/>
            <a:ext cx="3712463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790688" y="1755648"/>
            <a:ext cx="3712463" cy="310896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① 分割で浮く計算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90688" y="2066544"/>
            <a:ext cx="3712463" cy="530352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65,000 flop を半分に
→  数 ms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90688" y="2706624"/>
            <a:ext cx="3712463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790688" y="2761488"/>
            <a:ext cx="3712463" cy="310896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② 往復に要る時間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90688" y="3072384"/>
            <a:ext cx="3712463" cy="530352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リンクが生きていても 数 ms
→  ① とほぼ相殺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90688" y="3712464"/>
            <a:ext cx="3712463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790688" y="3767328"/>
            <a:ext cx="3712463" cy="310896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③ アイドルからの往復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90688" y="4078224"/>
            <a:ext cx="3712463" cy="530352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最大 407 ms
=  単コア GEMM 40 〜 80 回ぶん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17536" y="4828032"/>
            <a:ext cx="3858768" cy="841248"/>
          </a:xfrm>
          <a:prstGeom prst="rect">
            <a:avLst/>
          </a:prstGeom>
          <a:noFill/>
        </p:spPr>
        <p:txBody>
          <a:bodyPr wrap="square" lIns="54864" rIns="54864" tIns="32918" bIns="3291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「計算量 / 通信量」が小さい問題を
分散してはいけない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852160"/>
            <a:ext cx="11185855" cy="53035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02920" y="5852160"/>
            <a:ext cx="11185855" cy="530352"/>
          </a:xfrm>
          <a:prstGeom prst="rect">
            <a:avLst/>
          </a:prstGeom>
          <a:noFill/>
        </p:spPr>
        <p:txBody>
          <a:bodyPr wrap="square" tIns="54864" bIns="54864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6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速くはならなかった。が、HPC の教科書どおりの結論を、耳の中で定量的に再現できた。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935705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わかったこと / できていないこと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1089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3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14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5566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11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14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5483199" cy="4974336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02920" y="1115568"/>
            <a:ext cx="5483199" cy="475488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02920" y="1115568"/>
            <a:ext cx="5483199" cy="475488"/>
          </a:xfrm>
          <a:prstGeom prst="rect">
            <a:avLst/>
          </a:prstGeom>
          <a:noFill/>
        </p:spPr>
        <p:txBody>
          <a:bodyPr wrap="square" lIns="146304" rIns="146304" tIns="87782" bIns="87782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わかったこと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1755648"/>
            <a:ext cx="3291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" y="1737360"/>
            <a:ext cx="482483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標準 API のまま実機に載る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" y="2103120"/>
            <a:ext cx="4824831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本物の OpenMPI でも自作アダプタでも無改変でビルドでき、結果も一致した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" y="2852928"/>
            <a:ext cx="3291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" y="2834640"/>
            <a:ext cx="482483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ソースが無くても仕様は確定できる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200400"/>
            <a:ext cx="4824831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逆アセンブルで、ヘッダと食い違う実挙動を根拠付きで確定できた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" y="3950208"/>
            <a:ext cx="3291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6696" y="3931920"/>
            <a:ext cx="482483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組み込みの敵は計算ではない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" y="4297680"/>
            <a:ext cx="4824831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踏んだ地雷は全部が電源・接続・RTOS・SDK の仕様だった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" y="5047488"/>
            <a:ext cx="3291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6696" y="5029200"/>
            <a:ext cx="482483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ホストで TDD できる形に切ると強い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6" y="5394959"/>
            <a:ext cx="4824831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実機で 1 回試す前に 1,788 checks。実機バグもテストに落として直した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05575" y="1115568"/>
            <a:ext cx="5483199" cy="4974336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6205575" y="1115568"/>
            <a:ext cx="5483199" cy="475488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205575" y="1115568"/>
            <a:ext cx="5483199" cy="475488"/>
          </a:xfrm>
          <a:prstGeom prst="rect">
            <a:avLst/>
          </a:prstGeom>
          <a:noFill/>
        </p:spPr>
        <p:txBody>
          <a:bodyPr wrap="square" lIns="146304" rIns="146304" tIns="87782" bIns="87782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できていないこと (正直に)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1755648"/>
            <a:ext cx="3291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A32B22"/>
                </a:solidFill>
                <a:latin typeface="Meiryo"/>
                <a:ea typeface="Meiryo"/>
                <a:cs typeface="Meiryo"/>
              </a:rPr>
              <a:t>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99351" y="1737360"/>
            <a:ext cx="482483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ノード内 2 コア並列は未達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99351" y="2103120"/>
            <a:ext cx="4824831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OpenMP は逐次スタブのまま。2 個目のコアは音声処理と取り合いになる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1879" y="2852928"/>
            <a:ext cx="3291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A32B22"/>
                </a:solidFill>
                <a:latin typeface="Meiryo"/>
                <a:ea typeface="Meiryo"/>
                <a:cs typeface="Meiryo"/>
              </a:rPr>
              <a:t>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99351" y="2834640"/>
            <a:ext cx="482483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slave 側のログが電波に乗らない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99351" y="3200400"/>
            <a:ext cx="4824831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片方が master のときしか PC に届かない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1879" y="3950208"/>
            <a:ext cx="3291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A32B22"/>
                </a:solidFill>
                <a:latin typeface="Meiryo"/>
                <a:ea typeface="Meiryo"/>
                <a:cs typeface="Meiryo"/>
              </a:rPr>
              <a:t>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99351" y="3931920"/>
            <a:ext cx="482483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音楽再生との同時実行は未検証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99351" y="4297680"/>
            <a:ext cx="4824831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「使いながら裏で計算」はまだ道半ば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1879" y="5047488"/>
            <a:ext cx="3291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A32B22"/>
                </a:solidFill>
                <a:latin typeface="Meiryo"/>
                <a:ea typeface="Meiryo"/>
                <a:cs typeface="Meiryo"/>
              </a:rPr>
              <a:t>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99351" y="5029200"/>
            <a:ext cx="482483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N を大きくした時の挙動は未計測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99351" y="5394959"/>
            <a:ext cx="4824831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RAM の上限は N≈128。そこで逆転するかは未検証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935705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まとめ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1089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3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15 / 15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591495" y="645566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1100" b="0" i="0">
                <a:solidFill>
                  <a:srgbClr val="808080"/>
                </a:solidFill>
                <a:latin typeface="Meiryo"/>
                <a:ea typeface="Meiryo"/>
                <a:cs typeface="Meiryo"/>
              </a:rPr>
              <a:t>15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11185855" cy="841248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2920" y="1115568"/>
            <a:ext cx="11185855" cy="841248"/>
          </a:xfrm>
          <a:prstGeom prst="rect">
            <a:avLst/>
          </a:prstGeom>
          <a:noFill/>
        </p:spPr>
        <p:txBody>
          <a:bodyPr wrap="square" tIns="54864" bIns="54864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2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1 万円のワイヤレスイヤホン 2 個  =  2 ノードの MPI クラスタ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31136"/>
            <a:ext cx="34747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9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" y="2249424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標準 MPI API のベンチが、無改変で耳の中で PASS した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761488"/>
            <a:ext cx="34747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9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" y="277977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checksum 厳密一致 / 両バッズ size=2 / EXCEPTION 0 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291839"/>
            <a:ext cx="34747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9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" y="3310127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5 連タップで再実行、結果は Bluetooth で PC にワイヤレス配信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822191"/>
            <a:ext cx="34747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900" b="1" i="0">
                <a:solidFill>
                  <a:srgbClr val="A32B22"/>
                </a:solidFill>
                <a:latin typeface="Meiryo"/>
                <a:ea typeface="Meiryo"/>
                <a:cs typeface="Meiryo"/>
              </a:rPr>
              <a:t>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" y="3840479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速くはならなかった — が、理由は定量的に説明できる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443984"/>
            <a:ext cx="3594506" cy="1133856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02920" y="4443984"/>
            <a:ext cx="3594506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2920" y="4443984"/>
            <a:ext cx="3594506" cy="438912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① ノード内 2 コア並列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882896"/>
            <a:ext cx="3594506" cy="694944"/>
          </a:xfrm>
          <a:prstGeom prst="rect">
            <a:avLst/>
          </a:prstGeom>
          <a:noFill/>
        </p:spPr>
        <p:txBody>
          <a:bodyPr wrap="square" lIns="128016" rIns="128016" tIns="76809" bIns="76809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2 個目のコアを音声処理と
どう分け合うかが論点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8594" y="4443984"/>
            <a:ext cx="3594506" cy="1133856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4298594" y="4443984"/>
            <a:ext cx="3594506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298594" y="4443984"/>
            <a:ext cx="3594506" cy="438912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② 通信に耐える問題を選ぶ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8594" y="4882896"/>
            <a:ext cx="3594506" cy="694944"/>
          </a:xfrm>
          <a:prstGeom prst="rect">
            <a:avLst/>
          </a:prstGeom>
          <a:noFill/>
        </p:spPr>
        <p:txBody>
          <a:bodyPr wrap="square" lIns="128016" rIns="128016" tIns="76809" bIns="76809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境界だけを交換する問題なら
通信量が小さい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94268" y="4443984"/>
            <a:ext cx="3594506" cy="1133856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8094268" y="4443984"/>
            <a:ext cx="3594506" cy="438912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094268" y="4443984"/>
            <a:ext cx="3594506" cy="438912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③ 音楽再生との同時実行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4268" y="4882896"/>
            <a:ext cx="3594506" cy="694944"/>
          </a:xfrm>
          <a:prstGeom prst="rect">
            <a:avLst/>
          </a:prstGeom>
          <a:noFill/>
        </p:spPr>
        <p:txBody>
          <a:bodyPr wrap="square" lIns="128016" rIns="128016" tIns="76809" bIns="76809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本当に「使いながら裏で計算」
させる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687568"/>
            <a:ext cx="11185855" cy="548640"/>
          </a:xfrm>
          <a:prstGeom prst="rect">
            <a:avLst/>
          </a:prstGeom>
          <a:solidFill>
            <a:srgbClr val="E6E6E6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02920" y="5687568"/>
            <a:ext cx="11185855" cy="548640"/>
          </a:xfrm>
          <a:prstGeom prst="rect">
            <a:avLst/>
          </a:prstGeom>
          <a:noFill/>
        </p:spPr>
        <p:txBody>
          <a:bodyPr wrap="square" tIns="54864" bIns="54864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9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みなさんの耳にも、暇をしている Cortex-M4F が 2 個入っています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327648"/>
            <a:ext cx="1118585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github.com/TamichiRyuto/pine-buds-cluster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